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162B4C"/>
                </a:solidFill>
                <a:latin typeface="Aptos"/>
              </a:defRPr>
            </a:pPr>
            <a:r>
              <a:t>HEALTH INSURANCE</a:t>
            </a:r>
          </a:p>
          <a:p>
            <a:pPr>
              <a:spcAft>
                <a:spcPts val="900"/>
              </a:spcAft>
              <a:defRPr sz="3400" b="1">
                <a:solidFill>
                  <a:srgbClr val="162B4C"/>
                </a:solidFill>
                <a:latin typeface="Aptos"/>
              </a:defRPr>
            </a:pPr>
            <a:r>
              <a:t>MARKET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0828C"/>
                </a:solidFill>
                <a:latin typeface="Aptos"/>
              </a:defRPr>
            </a:pPr>
            <a:r>
              <a:t>Adverse Selection • Premium Sensitivity • Consumer Behaviour • Insurer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Review 2: implementation plan and Python prototype</a:t>
            </a:r>
          </a:p>
          <a:p>
            <a:pPr>
              <a:spcAft>
                <a:spcPts val="9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Team: Sahithi A and Sahithi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E7882"/>
                </a:solidFill>
                <a:latin typeface="Aptos"/>
              </a:defRPr>
            </a:pPr>
            <a:r>
              <a:t>Draft review • Demo data is illustrative, not research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1. Introduction to the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The problem we are studying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Health insurance helps people manage uncertain medical costs.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Customers differ in age, expected health needs, budget and coverage preferences.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Our question: How do age, risk and price sensitivity relate to plan choice—and how might this contribute to adverse selection?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2.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Why this topic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Medical costs can be unpredictable.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Customers may know more about their own expected needs than insurers can observe.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Insurers must balance premiums, coverage and claims.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Studying customer choices can help explain pricing and risk-management challenges.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3. Objectives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What we want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Explore age group, risk category and preferred coverage.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Examine how premium changes may affect plan choice.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Compare selected insurers’ publicly listed plans and features.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Explain adverse selection, moral hazard and risk pooling.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Use PYTH to clean, summarise and visualise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4. MICR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Subject 1 • Decisions and incentives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Topics: adverse selection, moral hazard, price elasticity and risk pooling.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Why selected: these concepts explain customer incentives, response to price, and how insurers manage uncertain claims.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Questions: Are higher-risk respondents more likely to prefer comprehensive coverage? Would respondents switch if premiums rise?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5. BEPM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Subject 2 • The market around the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Topics: insurance industry, competition, product differentiation and regulation.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Why selected: customers choose among insurers operating under market and regulatory conditions.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Method: compare selected plans on coverage, exclusions, waiting periods and premiums where comparable.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6. PYTH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Subject 3 • Evidence from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Topics: data cleaning, descriptive analysis, cross-tabulation and charts.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Why selected: Python makes calculations repeatable and helps us show patterns clearly.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Prototype: summarise premiums by age group and compare plan preferences by age and broad risk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7.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Two sources of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Primary data: a short voluntary survey on age band, plan preference, coverage preference and premium sensitivity.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Secondary data: insurer product pages, official public reports and published research.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We will record source links and access dates, avoid identifying information, and keep demo data separate from real responses.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8.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Make the data reliable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Check missing answers and duplicate records.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Make category labels consistent (for example, “Basic” and “basic”).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Convert premium fields to numbers and check unusual values.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Document exclusions and protect respondent privacy.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9. Analysis and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What we can demonstrate in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Python workflow: load CSV → clean fields → calculate summaries → create graphs.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Planned outputs: average/median premium by age band; plan-choice percentages by age and risk group; charts for presentation.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The included prototype uses clearly labelled illustrative demo data until real responses are collected.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10. Findings: What We Can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Evidence before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Current status: the code workflow is a prototype; demo numbers are not real findings.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After data collection, we will report patterns supported by evidence.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We will not assume age causes a plan choice or that every higher-risk person chooses more coverage.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Limitations may include sample size, self-reporting and differences between insurer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11. Methodology and Final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End-to-end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1. Finalise research questions and survey.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2. Collect primary and secondary data.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3. Clean and document the data.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4. Analyse in Python and generate graphs.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5. Interpret results using MICR and BEPM.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6. Write findings, limitations, conclusion, recommendations and references.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7. Prepare the final report and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62B4C"/>
                </a:solidFill>
                <a:latin typeface="Aptos"/>
              </a:defRPr>
            </a:pPr>
            <a:r>
              <a:t>12. GitHub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28C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52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Repository files: README, survey template, demo CSV, Python script, methodology and generated outputs.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Next: confirm survey with faculty → collect responses → replace/extend demo data → rerun analysis → verify insurer comparisons → update findings and references.</a:t>
            </a:r>
          </a:p>
          <a:p>
            <a:pPr>
              <a:spcAft>
                <a:spcPts val="9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Review 2 message: we have a clear method and a runnable PYTH starting point; actual conclusions will follow real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E7882"/>
                </a:solidFill>
                <a:latin typeface="Aptos"/>
              </a:defRPr>
            </a:pPr>
            <a:r>
              <a:t>Health Insurance Market Study • Review 2 • MICR | BEPM | PYTH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2: Type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Primary data — responses collected directly through our voluntary student/adult consumer survey.</a:t>
            </a:r>
          </a:p>
          <a:p>
            <a:pPr>
              <a:defRPr sz="2200"/>
            </a:pPr>
            <a:r>
              <a:t>Quantitative data — age band, premium range, preferred coverage, price-sensitivity rating and plan choice.</a:t>
            </a:r>
          </a:p>
          <a:p>
            <a:pPr>
              <a:defRPr sz="2200"/>
            </a:pPr>
            <a:r>
              <a:t>Qualitative data — optional short reason for choosing a plan (for example, price, benefits, trust or network hospitals).</a:t>
            </a:r>
          </a:p>
          <a:p>
            <a:pPr>
              <a:defRPr sz="2200"/>
            </a:pPr>
            <a:r>
              <a:t>Secondary data — public insurer product pages, policy brochures, IRDAI statistics and published research.</a:t>
            </a:r>
          </a:p>
          <a:p>
            <a:pPr>
              <a:defRPr sz="2200"/>
            </a:pPr>
            <a:r>
              <a:t>Why both? Survey responses help study consumer preferences; secondary sources provide market and regulatory context.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2: Data Collection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Online questionnaire (Google Forms or equivalent), shared voluntarily with eligible respondents.</a:t>
            </a:r>
          </a:p>
          <a:p>
            <a:pPr>
              <a:defRPr sz="2200"/>
            </a:pPr>
            <a:r>
              <a:t>2. Use age bands rather than full date of birth; do not collect names, phone numbers, policy numbers or diagnoses.</a:t>
            </a:r>
          </a:p>
          <a:p>
            <a:pPr>
              <a:defRPr sz="2200"/>
            </a:pPr>
            <a:r>
              <a:t>3. Target: a manageable pilot sample of about 50 responses, if approved by faculty; report the actual number collected.</a:t>
            </a:r>
          </a:p>
          <a:p>
            <a:pPr>
              <a:defRPr sz="2200"/>
            </a:pPr>
            <a:r>
              <a:t>4. Secondary research: compare 3–4 selected insurers using public product pages and brochures.</a:t>
            </a:r>
          </a:p>
          <a:p>
            <a:pPr>
              <a:defRPr sz="2200"/>
            </a:pPr>
            <a:r>
              <a:t>5. Record URL, product name, sum insured, premium quote assumptions, waiting periods, co-pay, exclusions and access date.</a:t>
            </a:r>
          </a:p>
          <a:p>
            <a:pPr>
              <a:defRPr sz="2200"/>
            </a:pPr>
            <a:r>
              <a:t>Justification: a survey is practical for a student project; public sources make insurer comparisons traceable.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2: Data Analysis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Step 1 — Export survey responses to CSV; remove duplicates and check missing or inconsistent values.</a:t>
            </a:r>
          </a:p>
          <a:p>
            <a:pPr>
              <a:defRPr sz="2200"/>
            </a:pPr>
            <a:r>
              <a:t>Step 2 — Use Python (pandas) for counts, percentages, median/average where suitable, and cross-tabulations.</a:t>
            </a:r>
          </a:p>
          <a:p>
            <a:pPr>
              <a:defRPr sz="2200"/>
            </a:pPr>
            <a:r>
              <a:t>Step 3 — Use matplotlib to chart plan choice by age band, price sensitivity and stated risk category.</a:t>
            </a:r>
          </a:p>
          <a:p>
            <a:pPr>
              <a:defRPr sz="2200"/>
            </a:pPr>
            <a:r>
              <a:t>Step 4 — Compare selected insurers only when plan features and quote assumptions are comparable.</a:t>
            </a:r>
          </a:p>
          <a:p>
            <a:pPr>
              <a:defRPr sz="2200"/>
            </a:pPr>
            <a:r>
              <a:t>Step 5 — Interpret patterns using adverse selection, moral hazard, price elasticity and risk pooling.</a:t>
            </a:r>
          </a:p>
          <a:p>
            <a:pPr>
              <a:defRPr sz="2200"/>
            </a:pPr>
            <a:r>
              <a:t>Important: preference patterns do not prove actual claims risk or causation; report limitations and sample size.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Quality, Ethics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Participation should be voluntary; explain that responses are for an academic project.</a:t>
            </a:r>
          </a:p>
          <a:p>
            <a:pPr>
              <a:defRPr sz="2200"/>
            </a:pPr>
            <a:r>
              <a:t>Collect only information needed for the research question and store the raw file securely.</a:t>
            </a:r>
          </a:p>
          <a:p>
            <a:pPr>
              <a:defRPr sz="2200"/>
            </a:pPr>
            <a:r>
              <a:t>Do not infer a person’s medical risk from age alone or request sensitive medical details.</a:t>
            </a:r>
          </a:p>
          <a:p>
            <a:pPr>
              <a:defRPr sz="2200"/>
            </a:pPr>
            <a:r>
              <a:t>Survey data are self-reported and may not represent all Indian consumers.</a:t>
            </a:r>
          </a:p>
          <a:p>
            <a:pPr>
              <a:defRPr sz="2200"/>
            </a:pPr>
            <a:r>
              <a:t>Insurance premiums depend on age, location, sum insured, add-ons, deductible, policy terms and quote date.</a:t>
            </a:r>
          </a:p>
          <a:p>
            <a:pPr>
              <a:defRPr sz="2200"/>
            </a:pPr>
            <a:r>
              <a:t>Clearly label any demo data as illustrative; never present it as collected research.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Sources and Research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IRDAI — Handbook on Indian Insurance Statistics (latest available edition): irdai.gov.in/handbook-of-indian-insurance</a:t>
            </a:r>
          </a:p>
          <a:p>
            <a:pPr>
              <a:defRPr sz="2200"/>
            </a:pPr>
            <a:r>
              <a:t>IRDAI — Health Department FAQs and product/regulatory guidance: irdai.gov.in/health-dept</a:t>
            </a:r>
          </a:p>
          <a:p>
            <a:pPr>
              <a:defRPr sz="2200"/>
            </a:pPr>
            <a:r>
              <a:t>IRDAI — List of registered health insurers: irdai.gov.in/insurers/health-insurers</a:t>
            </a:r>
          </a:p>
          <a:p>
            <a:pPr>
              <a:defRPr sz="2200"/>
            </a:pPr>
            <a:r>
              <a:t>Selected insurer official product pages and policy brochures (record access date and assumptions).</a:t>
            </a:r>
          </a:p>
          <a:p>
            <a:pPr>
              <a:defRPr sz="2200"/>
            </a:pPr>
            <a:r>
              <a:t>Academic articles or textbooks on adverse selection, moral hazard, price elasticity and risk pooling.</a:t>
            </a:r>
          </a:p>
          <a:p>
            <a:pPr>
              <a:defRPr sz="2200"/>
            </a:pPr>
            <a:r>
              <a:t>For every statistic, record source, year, table/page and access date; cite sources in the final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