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Schibsted Grotesk"/>
      <p:regular r:id="rId201314"/>
    </p:embeddedFont>
    <p:embeddedFont>
      <p:font typeface="Schibsted Grotesk Medium"/>
      <p:regular r:id="rId201315"/>
    </p:embeddedFont>
    <p:embeddedFont>
      <p:font typeface="Schibsted Grotesk SemiBold"/>
      <p:regular r:id="rId201316"/>
    </p:embeddedFont>
    <p:embeddedFont>
      <p:font typeface="Schibsted Grotesk Bold"/>
      <p:regular r:id="rId201317"/>
    </p:embeddedFont>
    <p:embeddedFont>
      <p:font typeface="Schibsted Grotesk Extra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Introduction
“Good morning. My project studies the health insurance market, focusing on adverse selection. Analysing insurance ownership, plan preferences, premium sensitivity and consumer behaviour using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Objectives
“My objectives are to compare insurance ownership across age groups, identify factors affecting plan selection, study responses to premium increases, and understand adverse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Data and Methodology
“I use a CSV dataset containing 30 sample records with categorical data. My methodology includes data collection, data cleaning, exploratory data analysis, and presenting results through tables and charts using visualisation tool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Data Cleaning
“I used Pandas in Jupyter Notebook to load and inspect the dataset. Check missing values, duplicate records, data types and consistency before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Insurance Ownership
“In the sample, 19 records indicate insurance ownership and 11 indicate no insurance. That is 63.3% and 36.7%, respectively.”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Ownership by Age Group
“The sample shows differences in insurance ownership across age groups. The 26–35 group has the highest number of insured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Plan Preferences
“Basic and Standard plans are the most frequently preferred categories. Price is the leading decision factor, followed by coverage. This demonstrates how affordability may influence plan selection in the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Premium Increase
“When asked about a hypothetical 10% premium increase, some records indicate that people would compare plans, choose lower coverage or consider non-renewal. This illustrates premium sensitivity, not actual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Key Findings and Adverse Selection
“The analysis suggests that affordability can influence insurance decisions, and a premium increase may encourage some consumers to compare plans or reduce coverage. Adverse selection occurs when people with higher expected healthcare costs are more likely to seek insurance, potentially increasing the average risk of the insured group and putting upward pressure on premiums. This highlights the importance of balanced risk pooling.”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Recommendations and Conclusion
“Insurers should offer suitable plans for different budgets, explain coverage and exclusions clearly, and maintain an effective risk pool. They should also monitor enrolment patterns and claims data to identify adverse selection. To conclude, understanding consumer behaviour, premium sensitivity and risk pooling can help insurers design sustainable and affordable health insurance products.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723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00000">
              <a:alpha val="48000"/>
            </a:srgbClr>
          </a:solidFill>
          <a:ln/>
        </p:spPr>
      </p:sp>
      <p:pic>
        <p:nvPicPr>
          <p:cNvPr id="5"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723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1307505"/>
            <a:ext cx="11023324" cy="1828800"/>
          </a:xfrm>
          <a:prstGeom prst="rect">
            <a:avLst/>
          </a:prstGeom>
          <a:noFill/>
          <a:ln/>
        </p:spPr>
        <p:txBody>
          <a:bodyPr wrap="square" lIns="0" tIns="0" rIns="0" bIns="0" rtlCol="0" anchor="t">
            <a:normAutofit/>
          </a:bodyPr>
          <a:lstStyle/>
          <a:p>
            <a:pPr algn="l" indent="0" marL="0">
              <a:lnSpc>
                <a:spcPct val="83000"/>
              </a:lnSpc>
              <a:buNone/>
            </a:pPr>
            <a:r>
              <a:rPr lang="en-US" sz="7200" spc="-144" kern="100" dirty="0">
                <a:solidFill>
                  <a:srgbClr val="FFFFFF"/>
                </a:solidFill>
                <a:latin typeface="Schibsted Grotesk ExtraBold" pitchFamily="34" charset="0"/>
                <a:ea typeface="Schibsted Grotesk ExtraBold" pitchFamily="34" charset="-122"/>
                <a:cs typeface="Schibsted Grotesk ExtraBold" pitchFamily="34" charset="0"/>
              </a:rPr>
              <a:t>Health Insurance</a:t>
            </a:r>
            <a:endParaRPr lang="en-US" sz="7200" dirty="0"/>
          </a:p>
          <a:p>
            <a:pPr algn="l" indent="0" marL="0">
              <a:lnSpc>
                <a:spcPct val="83000"/>
              </a:lnSpc>
              <a:buNone/>
            </a:pPr>
            <a:r>
              <a:rPr lang="en-US" sz="7200" spc="-144" kern="100" dirty="0">
                <a:solidFill>
                  <a:srgbClr val="FFFFFF"/>
                </a:solidFill>
                <a:latin typeface="Schibsted Grotesk ExtraBold" pitchFamily="34" charset="0"/>
                <a:ea typeface="Schibsted Grotesk ExtraBold" pitchFamily="34" charset="-122"/>
                <a:cs typeface="Schibsted Grotesk ExtraBold" pitchFamily="34" charset="0"/>
              </a:rPr>
              <a:t>Market Study</a:t>
            </a:r>
            <a:endParaRPr lang="en-US" sz="7200" dirty="0"/>
          </a:p>
        </p:txBody>
      </p:sp>
      <p:sp>
        <p:nvSpPr>
          <p:cNvPr id="3" name="Shape 1"/>
          <p:cNvSpPr/>
          <p:nvPr/>
        </p:nvSpPr>
        <p:spPr>
          <a:xfrm>
            <a:off x="711182" y="3347839"/>
            <a:ext cx="2755732" cy="50701"/>
          </a:xfrm>
          <a:prstGeom prst="roundRect">
            <a:avLst>
              <a:gd name="adj" fmla="val 49999"/>
            </a:avLst>
          </a:prstGeom>
          <a:solidFill>
            <a:srgbClr val="C5E35A"/>
          </a:solidFill>
          <a:ln/>
        </p:spPr>
      </p:sp>
      <p:sp>
        <p:nvSpPr>
          <p:cNvPr id="4" name="Text 2"/>
          <p:cNvSpPr/>
          <p:nvPr/>
        </p:nvSpPr>
        <p:spPr>
          <a:xfrm>
            <a:off x="711182" y="3798689"/>
            <a:ext cx="11023324" cy="330200"/>
          </a:xfrm>
          <a:prstGeom prst="rect">
            <a:avLst/>
          </a:prstGeom>
          <a:noFill/>
          <a:ln/>
        </p:spPr>
        <p:txBody>
          <a:bodyPr wrap="none" lIns="0" tIns="0" rIns="0" bIns="0" rtlCol="0" anchor="t"/>
          <a:lstStyle/>
          <a:p>
            <a:pPr algn="l" indent="0" marL="0">
              <a:lnSpc>
                <a:spcPct val="108000"/>
              </a:lnSpc>
              <a:buNone/>
            </a:pPr>
            <a:r>
              <a:rPr lang="en-US" sz="2000" dirty="0">
                <a:solidFill>
                  <a:srgbClr val="FFFFFF"/>
                </a:solidFill>
                <a:latin typeface="Schibsted Grotesk Medium" pitchFamily="34" charset="0"/>
                <a:ea typeface="Schibsted Grotesk Medium" pitchFamily="34" charset="-122"/>
                <a:cs typeface="Schibsted Grotesk Medium" pitchFamily="34" charset="0"/>
              </a:rPr>
              <a:t>A Study of Adverse Selection in the Health Insurance Market</a:t>
            </a:r>
            <a:endParaRPr lang="en-US" sz="2000" dirty="0"/>
          </a:p>
        </p:txBody>
      </p:sp>
      <p:sp>
        <p:nvSpPr>
          <p:cNvPr id="5" name="Text 3"/>
          <p:cNvSpPr/>
          <p:nvPr/>
        </p:nvSpPr>
        <p:spPr>
          <a:xfrm>
            <a:off x="711182" y="4263827"/>
            <a:ext cx="11023324" cy="138668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FFFFFF"/>
                </a:solidFill>
                <a:latin typeface="Schibsted Grotesk" pitchFamily="34" charset="0"/>
                <a:ea typeface="Schibsted Grotesk" pitchFamily="34" charset="-122"/>
                <a:cs typeface="Schibsted Grotesk" pitchFamily="34" charset="0"/>
              </a:rPr>
              <a:t>Project focus: Health insurance choices and premium sensitivity</a:t>
            </a:r>
            <a:endParaRPr lang="en-US" sz="1800" dirty="0"/>
          </a:p>
          <a:p>
            <a:pPr algn="l" marL="365760" indent="-365760">
              <a:lnSpc>
                <a:spcPct val="113000"/>
              </a:lnSpc>
              <a:buSzPct val="100000"/>
              <a:buChar char="•"/>
            </a:pPr>
            <a:r>
              <a:rPr lang="en-US" sz="1800" dirty="0">
                <a:solidFill>
                  <a:srgbClr val="FFFFFF"/>
                </a:solidFill>
                <a:latin typeface="Schibsted Grotesk" pitchFamily="34" charset="0"/>
                <a:ea typeface="Schibsted Grotesk" pitchFamily="34" charset="-122"/>
                <a:cs typeface="Schibsted Grotesk" pitchFamily="34" charset="0"/>
              </a:rPr>
              <a:t>Areas of study: Insurance ownership, plan preferences, affordability and consumer behaviour</a:t>
            </a:r>
            <a:endParaRPr lang="en-US" sz="1800" dirty="0"/>
          </a:p>
          <a:p>
            <a:pPr algn="l" marL="365760" indent="-365760">
              <a:lnSpc>
                <a:spcPct val="113000"/>
              </a:lnSpc>
              <a:buSzPct val="100000"/>
              <a:buChar char="•"/>
            </a:pPr>
            <a:r>
              <a:rPr lang="en-US" sz="1800" dirty="0">
                <a:solidFill>
                  <a:srgbClr val="FFFFFF"/>
                </a:solidFill>
                <a:latin typeface="Schibsted Grotesk" pitchFamily="34" charset="0"/>
                <a:ea typeface="Schibsted Grotesk" pitchFamily="34" charset="-122"/>
                <a:cs typeface="Schibsted Grotesk" pitchFamily="34" charset="0"/>
              </a:rPr>
              <a:t>Tools used: Python and Jupyter Notebook</a:t>
            </a:r>
            <a:endParaRPr lang="en-US" sz="1800" dirty="0"/>
          </a:p>
          <a:p>
            <a:pPr algn="l" marL="365760" indent="-365760">
              <a:lnSpc>
                <a:spcPct val="113000"/>
              </a:lnSpc>
              <a:buSzPct val="100000"/>
              <a:buChar char="•"/>
            </a:pPr>
            <a:r>
              <a:rPr lang="en-US" sz="1800" dirty="0">
                <a:solidFill>
                  <a:srgbClr val="FFFFFF"/>
                </a:solidFill>
                <a:latin typeface="Schibsted Grotesk" pitchFamily="34" charset="0"/>
                <a:ea typeface="Schibsted Grotesk" pitchFamily="34" charset="-122"/>
                <a:cs typeface="Schibsted Grotesk" pitchFamily="34" charset="0"/>
              </a:rPr>
              <a:t>Review presentation: Data Analysis, Results and Key Findings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503555"/>
            <a:ext cx="11277318" cy="586680"/>
          </a:xfrm>
          <a:prstGeom prst="rect">
            <a:avLst/>
          </a:prstGeom>
          <a:noFill/>
          <a:ln/>
        </p:spPr>
        <p:txBody>
          <a:bodyPr wrap="none" lIns="0" tIns="0" rIns="0" bIns="0" rtlCol="0" anchor="t"/>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Objectives of the Study</a:t>
            </a:r>
            <a:endParaRPr lang="en-US" sz="4400" dirty="0"/>
          </a:p>
        </p:txBody>
      </p:sp>
      <p:sp>
        <p:nvSpPr>
          <p:cNvPr id="3" name="Shape 1"/>
          <p:cNvSpPr/>
          <p:nvPr/>
        </p:nvSpPr>
        <p:spPr>
          <a:xfrm>
            <a:off x="457189" y="1240730"/>
            <a:ext cx="400040" cy="400050"/>
          </a:xfrm>
          <a:prstGeom prst="ellipse">
            <a:avLst/>
          </a:prstGeom>
          <a:solidFill>
            <a:srgbClr val="C5E35A"/>
          </a:solidFill>
          <a:ln/>
        </p:spPr>
      </p:sp>
      <p:sp>
        <p:nvSpPr>
          <p:cNvPr id="4" name="Text 2"/>
          <p:cNvSpPr/>
          <p:nvPr/>
        </p:nvSpPr>
        <p:spPr>
          <a:xfrm>
            <a:off x="613653" y="1326455"/>
            <a:ext cx="696697" cy="228600"/>
          </a:xfrm>
          <a:prstGeom prst="rect">
            <a:avLst/>
          </a:prstGeom>
          <a:noFill/>
          <a:ln/>
        </p:spPr>
        <p:txBody>
          <a:bodyPr wrap="none" lIns="0" tIns="0" rIns="0" bIns="0" rtlCol="0" anchor="t"/>
          <a:lstStyle/>
          <a:p>
            <a:pPr algn="l" indent="0" marL="0">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0"/>
              </a:rPr>
              <a:t>1</a:t>
            </a:r>
            <a:endParaRPr lang="en-US" sz="1800" dirty="0"/>
          </a:p>
        </p:txBody>
      </p:sp>
      <p:sp>
        <p:nvSpPr>
          <p:cNvPr id="5" name="Text 3"/>
          <p:cNvSpPr/>
          <p:nvPr/>
        </p:nvSpPr>
        <p:spPr>
          <a:xfrm>
            <a:off x="1035024" y="1292165"/>
            <a:ext cx="1069948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Study health insurance ownership across age groups.</a:t>
            </a:r>
            <a:endParaRPr lang="en-US" sz="1800" dirty="0"/>
          </a:p>
        </p:txBody>
      </p:sp>
      <p:sp>
        <p:nvSpPr>
          <p:cNvPr id="6" name="Shape 4"/>
          <p:cNvSpPr/>
          <p:nvPr/>
        </p:nvSpPr>
        <p:spPr>
          <a:xfrm>
            <a:off x="457189" y="2176859"/>
            <a:ext cx="400040" cy="400050"/>
          </a:xfrm>
          <a:prstGeom prst="ellipse">
            <a:avLst/>
          </a:prstGeom>
          <a:solidFill>
            <a:srgbClr val="C5E35A"/>
          </a:solidFill>
          <a:ln/>
        </p:spPr>
      </p:sp>
      <p:sp>
        <p:nvSpPr>
          <p:cNvPr id="7" name="Text 5"/>
          <p:cNvSpPr/>
          <p:nvPr/>
        </p:nvSpPr>
        <p:spPr>
          <a:xfrm>
            <a:off x="590039" y="2262584"/>
            <a:ext cx="743924" cy="228600"/>
          </a:xfrm>
          <a:prstGeom prst="rect">
            <a:avLst/>
          </a:prstGeom>
          <a:noFill/>
          <a:ln/>
        </p:spPr>
        <p:txBody>
          <a:bodyPr wrap="none" lIns="0" tIns="0" rIns="0" bIns="0" rtlCol="0" anchor="t"/>
          <a:lstStyle/>
          <a:p>
            <a:pPr algn="l" indent="0" marL="0">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0"/>
              </a:rPr>
              <a:t>2</a:t>
            </a:r>
            <a:endParaRPr lang="en-US" sz="1800" dirty="0"/>
          </a:p>
        </p:txBody>
      </p:sp>
      <p:sp>
        <p:nvSpPr>
          <p:cNvPr id="8" name="Text 6"/>
          <p:cNvSpPr/>
          <p:nvPr/>
        </p:nvSpPr>
        <p:spPr>
          <a:xfrm>
            <a:off x="1035024" y="2228294"/>
            <a:ext cx="1069948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Identify factors influencing insurance plan selection.</a:t>
            </a:r>
            <a:endParaRPr lang="en-US" sz="1800" dirty="0"/>
          </a:p>
        </p:txBody>
      </p:sp>
      <p:sp>
        <p:nvSpPr>
          <p:cNvPr id="9" name="Shape 7"/>
          <p:cNvSpPr/>
          <p:nvPr/>
        </p:nvSpPr>
        <p:spPr>
          <a:xfrm>
            <a:off x="457189" y="3113088"/>
            <a:ext cx="400040" cy="400050"/>
          </a:xfrm>
          <a:prstGeom prst="ellipse">
            <a:avLst/>
          </a:prstGeom>
          <a:solidFill>
            <a:srgbClr val="C5E35A"/>
          </a:solidFill>
          <a:ln/>
        </p:spPr>
      </p:sp>
      <p:sp>
        <p:nvSpPr>
          <p:cNvPr id="10" name="Text 8"/>
          <p:cNvSpPr/>
          <p:nvPr/>
        </p:nvSpPr>
        <p:spPr>
          <a:xfrm>
            <a:off x="589444" y="3198813"/>
            <a:ext cx="745015" cy="228600"/>
          </a:xfrm>
          <a:prstGeom prst="rect">
            <a:avLst/>
          </a:prstGeom>
          <a:noFill/>
          <a:ln/>
        </p:spPr>
        <p:txBody>
          <a:bodyPr wrap="none" lIns="0" tIns="0" rIns="0" bIns="0" rtlCol="0" anchor="t"/>
          <a:lstStyle/>
          <a:p>
            <a:pPr algn="l" indent="0" marL="0">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0"/>
              </a:rPr>
              <a:t>3</a:t>
            </a:r>
            <a:endParaRPr lang="en-US" sz="1800" dirty="0"/>
          </a:p>
        </p:txBody>
      </p:sp>
      <p:sp>
        <p:nvSpPr>
          <p:cNvPr id="11" name="Text 9"/>
          <p:cNvSpPr/>
          <p:nvPr/>
        </p:nvSpPr>
        <p:spPr>
          <a:xfrm>
            <a:off x="1035024" y="3164523"/>
            <a:ext cx="1069948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Understand consumer responses to premium increases.</a:t>
            </a:r>
            <a:endParaRPr lang="en-US" sz="1800" dirty="0"/>
          </a:p>
        </p:txBody>
      </p:sp>
      <p:sp>
        <p:nvSpPr>
          <p:cNvPr id="12" name="Shape 10"/>
          <p:cNvSpPr/>
          <p:nvPr/>
        </p:nvSpPr>
        <p:spPr>
          <a:xfrm>
            <a:off x="457189" y="4049316"/>
            <a:ext cx="400040" cy="400050"/>
          </a:xfrm>
          <a:prstGeom prst="ellipse">
            <a:avLst/>
          </a:prstGeom>
          <a:solidFill>
            <a:srgbClr val="C5E35A"/>
          </a:solidFill>
          <a:ln/>
        </p:spPr>
      </p:sp>
      <p:sp>
        <p:nvSpPr>
          <p:cNvPr id="13" name="Text 11"/>
          <p:cNvSpPr/>
          <p:nvPr/>
        </p:nvSpPr>
        <p:spPr>
          <a:xfrm>
            <a:off x="587360" y="4135041"/>
            <a:ext cx="749281" cy="228600"/>
          </a:xfrm>
          <a:prstGeom prst="rect">
            <a:avLst/>
          </a:prstGeom>
          <a:noFill/>
          <a:ln/>
        </p:spPr>
        <p:txBody>
          <a:bodyPr wrap="none" lIns="0" tIns="0" rIns="0" bIns="0" rtlCol="0" anchor="t"/>
          <a:lstStyle/>
          <a:p>
            <a:pPr algn="l" indent="0" marL="0">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0"/>
              </a:rPr>
              <a:t>4</a:t>
            </a:r>
            <a:endParaRPr lang="en-US" sz="1800" dirty="0"/>
          </a:p>
        </p:txBody>
      </p:sp>
      <p:sp>
        <p:nvSpPr>
          <p:cNvPr id="14" name="Text 12"/>
          <p:cNvSpPr/>
          <p:nvPr/>
        </p:nvSpPr>
        <p:spPr>
          <a:xfrm>
            <a:off x="1035024" y="4100751"/>
            <a:ext cx="1069948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Examine the relationship between affordability and plan preferences.</a:t>
            </a:r>
            <a:endParaRPr lang="en-US" sz="1800" dirty="0"/>
          </a:p>
        </p:txBody>
      </p:sp>
      <p:sp>
        <p:nvSpPr>
          <p:cNvPr id="15" name="Shape 13"/>
          <p:cNvSpPr/>
          <p:nvPr/>
        </p:nvSpPr>
        <p:spPr>
          <a:xfrm>
            <a:off x="457189" y="4985544"/>
            <a:ext cx="400040" cy="400050"/>
          </a:xfrm>
          <a:prstGeom prst="ellipse">
            <a:avLst/>
          </a:prstGeom>
          <a:solidFill>
            <a:srgbClr val="C5E35A"/>
          </a:solidFill>
          <a:ln/>
        </p:spPr>
      </p:sp>
      <p:sp>
        <p:nvSpPr>
          <p:cNvPr id="16" name="Text 14"/>
          <p:cNvSpPr/>
          <p:nvPr/>
        </p:nvSpPr>
        <p:spPr>
          <a:xfrm>
            <a:off x="588352" y="5071269"/>
            <a:ext cx="747297" cy="228600"/>
          </a:xfrm>
          <a:prstGeom prst="rect">
            <a:avLst/>
          </a:prstGeom>
          <a:noFill/>
          <a:ln/>
        </p:spPr>
        <p:txBody>
          <a:bodyPr wrap="none" lIns="0" tIns="0" rIns="0" bIns="0" rtlCol="0" anchor="t"/>
          <a:lstStyle/>
          <a:p>
            <a:pPr algn="l" indent="0" marL="0">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0"/>
              </a:rPr>
              <a:t>5</a:t>
            </a:r>
            <a:endParaRPr lang="en-US" sz="1800" dirty="0"/>
          </a:p>
        </p:txBody>
      </p:sp>
      <p:sp>
        <p:nvSpPr>
          <p:cNvPr id="17" name="Text 15"/>
          <p:cNvSpPr/>
          <p:nvPr/>
        </p:nvSpPr>
        <p:spPr>
          <a:xfrm>
            <a:off x="1035024" y="5036979"/>
            <a:ext cx="1069948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Explain adverse selection and its importance in insurance markets.</a:t>
            </a:r>
            <a:endParaRPr lang="en-US" sz="1800" dirty="0"/>
          </a:p>
        </p:txBody>
      </p:sp>
      <p:sp>
        <p:nvSpPr>
          <p:cNvPr id="18" name="Shape 16"/>
          <p:cNvSpPr/>
          <p:nvPr/>
        </p:nvSpPr>
        <p:spPr>
          <a:xfrm>
            <a:off x="457189" y="5921772"/>
            <a:ext cx="400040" cy="400050"/>
          </a:xfrm>
          <a:prstGeom prst="ellipse">
            <a:avLst/>
          </a:prstGeom>
          <a:solidFill>
            <a:srgbClr val="C5E35A"/>
          </a:solidFill>
          <a:ln/>
        </p:spPr>
      </p:sp>
      <p:sp>
        <p:nvSpPr>
          <p:cNvPr id="19" name="Text 17"/>
          <p:cNvSpPr/>
          <p:nvPr/>
        </p:nvSpPr>
        <p:spPr>
          <a:xfrm>
            <a:off x="587757" y="6007497"/>
            <a:ext cx="748488" cy="228600"/>
          </a:xfrm>
          <a:prstGeom prst="rect">
            <a:avLst/>
          </a:prstGeom>
          <a:noFill/>
          <a:ln/>
        </p:spPr>
        <p:txBody>
          <a:bodyPr wrap="none" lIns="0" tIns="0" rIns="0" bIns="0" rtlCol="0" anchor="t"/>
          <a:lstStyle/>
          <a:p>
            <a:pPr algn="l" indent="0" marL="0">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0"/>
              </a:rPr>
              <a:t>6</a:t>
            </a:r>
            <a:endParaRPr lang="en-US" sz="1800" dirty="0"/>
          </a:p>
        </p:txBody>
      </p:sp>
      <p:sp>
        <p:nvSpPr>
          <p:cNvPr id="20" name="Text 18"/>
          <p:cNvSpPr/>
          <p:nvPr/>
        </p:nvSpPr>
        <p:spPr>
          <a:xfrm>
            <a:off x="1035024" y="5973207"/>
            <a:ext cx="1069948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Use Python to clean, analyse and present data.</a:t>
            </a:r>
            <a:endParaRPr lang="en-US" sz="1800" dirty="0"/>
          </a:p>
        </p:txBody>
      </p:sp>
      <p:sp>
        <p:nvSpPr>
          <p:cNvPr id="21" name="Shape 19"/>
          <p:cNvSpPr/>
          <p:nvPr/>
        </p:nvSpPr>
        <p:spPr>
          <a:xfrm>
            <a:off x="457189" y="1941909"/>
            <a:ext cx="11277318" cy="12700"/>
          </a:xfrm>
          <a:prstGeom prst="rect">
            <a:avLst/>
          </a:prstGeom>
          <a:solidFill>
            <a:srgbClr val="C5E35A"/>
          </a:solidFill>
          <a:ln/>
        </p:spPr>
      </p:sp>
      <p:sp>
        <p:nvSpPr>
          <p:cNvPr id="22" name="Shape 20"/>
          <p:cNvSpPr/>
          <p:nvPr/>
        </p:nvSpPr>
        <p:spPr>
          <a:xfrm>
            <a:off x="457189" y="2878138"/>
            <a:ext cx="11277318" cy="12700"/>
          </a:xfrm>
          <a:prstGeom prst="rect">
            <a:avLst/>
          </a:prstGeom>
          <a:solidFill>
            <a:srgbClr val="C5E35A"/>
          </a:solidFill>
          <a:ln/>
        </p:spPr>
      </p:sp>
      <p:sp>
        <p:nvSpPr>
          <p:cNvPr id="23" name="Shape 21"/>
          <p:cNvSpPr/>
          <p:nvPr/>
        </p:nvSpPr>
        <p:spPr>
          <a:xfrm>
            <a:off x="457189" y="3814366"/>
            <a:ext cx="11277318" cy="12700"/>
          </a:xfrm>
          <a:prstGeom prst="rect">
            <a:avLst/>
          </a:prstGeom>
          <a:solidFill>
            <a:srgbClr val="C5E35A"/>
          </a:solidFill>
          <a:ln/>
        </p:spPr>
      </p:sp>
      <p:sp>
        <p:nvSpPr>
          <p:cNvPr id="24" name="Shape 22"/>
          <p:cNvSpPr/>
          <p:nvPr/>
        </p:nvSpPr>
        <p:spPr>
          <a:xfrm>
            <a:off x="457189" y="4750594"/>
            <a:ext cx="11277318" cy="12700"/>
          </a:xfrm>
          <a:prstGeom prst="rect">
            <a:avLst/>
          </a:prstGeom>
          <a:solidFill>
            <a:srgbClr val="C5E35A"/>
          </a:solidFill>
          <a:ln/>
        </p:spPr>
      </p:sp>
      <p:sp>
        <p:nvSpPr>
          <p:cNvPr id="25" name="Shape 23"/>
          <p:cNvSpPr/>
          <p:nvPr/>
        </p:nvSpPr>
        <p:spPr>
          <a:xfrm>
            <a:off x="457189" y="5686822"/>
            <a:ext cx="11277318" cy="12700"/>
          </a:xfrm>
          <a:prstGeom prst="rect">
            <a:avLst/>
          </a:prstGeom>
          <a:solidFill>
            <a:srgbClr val="C5E35A"/>
          </a:solidFill>
          <a:ln/>
        </p:spPr>
      </p:sp>
      <p:sp>
        <p:nvSpPr>
          <p:cNvPr id="26" name="Text 24"/>
          <p:cNvSpPr/>
          <p:nvPr/>
        </p:nvSpPr>
        <p:spPr>
          <a:xfrm>
            <a:off x="11793739" y="6526510"/>
            <a:ext cx="397956"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503555"/>
            <a:ext cx="7010225" cy="586680"/>
          </a:xfrm>
          <a:prstGeom prst="rect">
            <a:avLst/>
          </a:prstGeom>
          <a:noFill/>
          <a:ln/>
        </p:spPr>
        <p:txBody>
          <a:bodyPr wrap="none" lIns="0" tIns="0" rIns="0" bIns="0" rtlCol="0" anchor="t"/>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Data and Methodology</a:t>
            </a:r>
            <a:endParaRPr lang="en-US" sz="4400" dirty="0"/>
          </a:p>
        </p:txBody>
      </p:sp>
      <p:sp>
        <p:nvSpPr>
          <p:cNvPr id="3" name="Text 1"/>
          <p:cNvSpPr/>
          <p:nvPr/>
        </p:nvSpPr>
        <p:spPr>
          <a:xfrm>
            <a:off x="457189" y="1278976"/>
            <a:ext cx="335271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Data used</a:t>
            </a:r>
            <a:endParaRPr lang="en-US" sz="3600" dirty="0"/>
          </a:p>
        </p:txBody>
      </p:sp>
      <p:sp>
        <p:nvSpPr>
          <p:cNvPr id="4" name="Text 2"/>
          <p:cNvSpPr/>
          <p:nvPr/>
        </p:nvSpPr>
        <p:spPr>
          <a:xfrm>
            <a:off x="457189" y="1917601"/>
            <a:ext cx="3352716" cy="2929533"/>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Sample dataset: 30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Data format: CSV</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Variables: Age group, insurance ownership, preferred plan, decision factor, premium response and affordability range</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Data type: Mainly categorical data</a:t>
            </a:r>
            <a:endParaRPr lang="en-US" sz="1800" dirty="0"/>
          </a:p>
        </p:txBody>
      </p:sp>
      <p:sp>
        <p:nvSpPr>
          <p:cNvPr id="5" name="Text 3"/>
          <p:cNvSpPr/>
          <p:nvPr/>
        </p:nvSpPr>
        <p:spPr>
          <a:xfrm>
            <a:off x="4114697" y="1278976"/>
            <a:ext cx="3352716" cy="960041"/>
          </a:xfrm>
          <a:prstGeom prst="rect">
            <a:avLst/>
          </a:prstGeom>
          <a:noFill/>
          <a:ln/>
        </p:spPr>
        <p:txBody>
          <a:bodyPr wrap="square" lIns="0" tIns="0" rIns="0" bIns="0" rtlCol="0" anchor="t">
            <a:normAutofit/>
          </a:bodyPr>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Analysis process</a:t>
            </a:r>
            <a:endParaRPr lang="en-US" sz="3600" dirty="0"/>
          </a:p>
        </p:txBody>
      </p:sp>
      <p:sp>
        <p:nvSpPr>
          <p:cNvPr id="6" name="Text 4"/>
          <p:cNvSpPr/>
          <p:nvPr/>
        </p:nvSpPr>
        <p:spPr>
          <a:xfrm>
            <a:off x="4114697" y="2397621"/>
            <a:ext cx="3352716" cy="3288903"/>
          </a:xfrm>
          <a:prstGeom prst="rect">
            <a:avLst/>
          </a:prstGeom>
          <a:noFill/>
          <a:ln/>
        </p:spPr>
        <p:txBody>
          <a:bodyPr wrap="square" lIns="0" tIns="0" rIns="0" bIns="0" rtlCol="0" anchor="t">
            <a:normAutofit/>
          </a:bodyPr>
          <a:lstStyle/>
          <a:p>
            <a:pPr algn="l" marL="365760" indent="-365760">
              <a:lnSpc>
                <a:spcPct val="113000"/>
              </a:lnSpc>
              <a:buSzPct val="100000"/>
              <a:buFont typeface="+mj-lt"/>
              <a:buAutoNum type="arabicPeriod" startAt="1"/>
            </a:pPr>
            <a:r>
              <a:rPr lang="en-US" sz="1800" dirty="0">
                <a:solidFill>
                  <a:srgbClr val="E3EEE7"/>
                </a:solidFill>
                <a:latin typeface="Schibsted Grotesk" pitchFamily="34" charset="0"/>
                <a:ea typeface="Schibsted Grotesk" pitchFamily="34" charset="-122"/>
                <a:cs typeface="Schibsted Grotesk" pitchFamily="34" charset="0"/>
              </a:rPr>
              <a:t>Load the CSV file into Jupyter Notebook.</a:t>
            </a:r>
            <a:endParaRPr lang="en-US" sz="1800" dirty="0"/>
          </a:p>
          <a:p>
            <a:pPr algn="l" marL="365760" indent="-365760">
              <a:lnSpc>
                <a:spcPct val="113000"/>
              </a:lnSpc>
              <a:buSzPct val="100000"/>
              <a:buFont typeface="+mj-lt"/>
              <a:buAutoNum type="arabicPeriod" startAt="2"/>
            </a:pPr>
            <a:r>
              <a:rPr lang="en-US" sz="1800" dirty="0">
                <a:solidFill>
                  <a:srgbClr val="E3EEE7"/>
                </a:solidFill>
                <a:latin typeface="Schibsted Grotesk" pitchFamily="34" charset="0"/>
                <a:ea typeface="Schibsted Grotesk" pitchFamily="34" charset="-122"/>
                <a:cs typeface="Schibsted Grotesk" pitchFamily="34" charset="0"/>
              </a:rPr>
              <a:t>Inspect the data and check missing values.</a:t>
            </a:r>
            <a:endParaRPr lang="en-US" sz="1800" dirty="0"/>
          </a:p>
          <a:p>
            <a:pPr algn="l" marL="365760" indent="-365760">
              <a:lnSpc>
                <a:spcPct val="113000"/>
              </a:lnSpc>
              <a:buSzPct val="100000"/>
              <a:buFont typeface="+mj-lt"/>
              <a:buAutoNum type="arabicPeriod" startAt="3"/>
            </a:pPr>
            <a:r>
              <a:rPr lang="en-US" sz="1800" dirty="0">
                <a:solidFill>
                  <a:srgbClr val="E3EEE7"/>
                </a:solidFill>
                <a:latin typeface="Schibsted Grotesk" pitchFamily="34" charset="0"/>
                <a:ea typeface="Schibsted Grotesk" pitchFamily="34" charset="-122"/>
                <a:cs typeface="Schibsted Grotesk" pitchFamily="34" charset="0"/>
              </a:rPr>
              <a:t>Check categories and data consistency.</a:t>
            </a:r>
            <a:endParaRPr lang="en-US" sz="1800" dirty="0"/>
          </a:p>
          <a:p>
            <a:pPr algn="l" marL="365760" indent="-365760">
              <a:lnSpc>
                <a:spcPct val="113000"/>
              </a:lnSpc>
              <a:buSzPct val="100000"/>
              <a:buFont typeface="+mj-lt"/>
              <a:buAutoNum type="arabicPeriod" startAt="4"/>
            </a:pPr>
            <a:r>
              <a:rPr lang="en-US" sz="1800" dirty="0">
                <a:solidFill>
                  <a:srgbClr val="E3EEE7"/>
                </a:solidFill>
                <a:latin typeface="Schibsted Grotesk" pitchFamily="34" charset="0"/>
                <a:ea typeface="Schibsted Grotesk" pitchFamily="34" charset="-122"/>
                <a:cs typeface="Schibsted Grotesk" pitchFamily="34" charset="0"/>
              </a:rPr>
              <a:t>Calculate frequencies and percentages.</a:t>
            </a:r>
            <a:endParaRPr lang="en-US" sz="1800" dirty="0"/>
          </a:p>
          <a:p>
            <a:pPr algn="l" marL="365760" indent="-365760">
              <a:lnSpc>
                <a:spcPct val="113000"/>
              </a:lnSpc>
              <a:buSzPct val="100000"/>
              <a:buFont typeface="+mj-lt"/>
              <a:buAutoNum type="arabicPeriod" startAt="5"/>
            </a:pPr>
            <a:r>
              <a:rPr lang="en-US" sz="1800" dirty="0">
                <a:solidFill>
                  <a:srgbClr val="E3EEE7"/>
                </a:solidFill>
                <a:latin typeface="Schibsted Grotesk" pitchFamily="34" charset="0"/>
                <a:ea typeface="Schibsted Grotesk" pitchFamily="34" charset="-122"/>
                <a:cs typeface="Schibsted Grotesk" pitchFamily="34" charset="0"/>
              </a:rPr>
              <a:t>Compare results using tables and charts.</a:t>
            </a:r>
            <a:endParaRPr lang="en-US" sz="1800" dirty="0"/>
          </a:p>
        </p:txBody>
      </p:sp>
      <p:pic>
        <p:nvPicPr>
          <p:cNvPr id="7" name="Image 0" descr="preencoded.png">    </p:cNvPr>
          <p:cNvPicPr>
            <a:picLocks noChangeAspect="1"/>
          </p:cNvPicPr>
          <p:nvPr/>
        </p:nvPicPr>
        <p:blipFill>
          <a:blip r:embed="rId1"/>
          <a:stretch>
            <a:fillRect/>
          </a:stretch>
        </p:blipFill>
        <p:spPr>
          <a:xfrm>
            <a:off x="7924602" y="0"/>
            <a:ext cx="4267093" cy="6858000"/>
          </a:xfrm>
          <a:prstGeom prst="rect">
            <a:avLst/>
          </a:prstGeom>
        </p:spPr>
      </p:pic>
      <p:sp>
        <p:nvSpPr>
          <p:cNvPr id="8" name="Text 5"/>
          <p:cNvSpPr/>
          <p:nvPr/>
        </p:nvSpPr>
        <p:spPr>
          <a:xfrm>
            <a:off x="217879" y="6526510"/>
            <a:ext cx="791448"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503555"/>
            <a:ext cx="11277318" cy="586680"/>
          </a:xfrm>
          <a:prstGeom prst="rect">
            <a:avLst/>
          </a:prstGeom>
          <a:noFill/>
          <a:ln/>
        </p:spPr>
        <p:txBody>
          <a:bodyPr wrap="none" lIns="0" tIns="0" rIns="0" bIns="0" rtlCol="0" anchor="t"/>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Data Cleaning and Preparation</a:t>
            </a:r>
            <a:endParaRPr lang="en-US" sz="4400" dirty="0"/>
          </a:p>
        </p:txBody>
      </p:sp>
      <p:sp>
        <p:nvSpPr>
          <p:cNvPr id="3" name="Text 1"/>
          <p:cNvSpPr/>
          <p:nvPr/>
        </p:nvSpPr>
        <p:spPr>
          <a:xfrm>
            <a:off x="457189" y="1278976"/>
            <a:ext cx="4508387"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Steps performed</a:t>
            </a:r>
            <a:endParaRPr lang="en-US" sz="3600" dirty="0"/>
          </a:p>
        </p:txBody>
      </p:sp>
      <p:sp>
        <p:nvSpPr>
          <p:cNvPr id="4" name="Text 2"/>
          <p:cNvSpPr/>
          <p:nvPr/>
        </p:nvSpPr>
        <p:spPr>
          <a:xfrm>
            <a:off x="457189" y="1917601"/>
            <a:ext cx="4508387" cy="3031133"/>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Imported the CSV using Pandas.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Checked the number of rows and columns.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Inspected column names and data types.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Checked for missing values.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Checked for duplicate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Reviewed category consistency before analysis.</a:t>
            </a:r>
            <a:endParaRPr lang="en-US" sz="1800" dirty="0"/>
          </a:p>
        </p:txBody>
      </p:sp>
      <p:sp>
        <p:nvSpPr>
          <p:cNvPr id="5" name="Text 3"/>
          <p:cNvSpPr/>
          <p:nvPr/>
        </p:nvSpPr>
        <p:spPr>
          <a:xfrm>
            <a:off x="457189" y="5066844"/>
            <a:ext cx="4508387"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Python tools: Pandas, Jupyter Notebook</a:t>
            </a:r>
            <a:endParaRPr lang="en-US" sz="1800" dirty="0"/>
          </a:p>
        </p:txBody>
      </p:sp>
      <p:sp>
        <p:nvSpPr>
          <p:cNvPr id="6" name="Text 4"/>
          <p:cNvSpPr/>
          <p:nvPr/>
        </p:nvSpPr>
        <p:spPr>
          <a:xfrm>
            <a:off x="5422764" y="1346140"/>
            <a:ext cx="6311742"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Code :</a:t>
            </a:r>
            <a:endParaRPr lang="en-US" sz="1800" dirty="0"/>
          </a:p>
        </p:txBody>
      </p:sp>
      <p:sp>
        <p:nvSpPr>
          <p:cNvPr id="7" name="Shape 5"/>
          <p:cNvSpPr/>
          <p:nvPr/>
        </p:nvSpPr>
        <p:spPr>
          <a:xfrm>
            <a:off x="5422764" y="1908076"/>
            <a:ext cx="6311742" cy="3748683"/>
          </a:xfrm>
          <a:prstGeom prst="roundRect">
            <a:avLst>
              <a:gd name="adj" fmla="val 2561"/>
            </a:avLst>
          </a:prstGeom>
          <a:solidFill>
            <a:srgbClr val="0F3B2E"/>
          </a:solidFill>
          <a:ln/>
        </p:spPr>
      </p:sp>
      <p:sp>
        <p:nvSpPr>
          <p:cNvPr id="8" name="Text 6"/>
          <p:cNvSpPr/>
          <p:nvPr/>
        </p:nvSpPr>
        <p:spPr>
          <a:xfrm>
            <a:off x="5696998" y="2136676"/>
            <a:ext cx="5763275" cy="3291483"/>
          </a:xfrm>
          <a:prstGeom prst="rect">
            <a:avLst/>
          </a:prstGeom>
          <a:noFill/>
          <a:ln/>
        </p:spPr>
        <p:txBody>
          <a:bodyPr wrap="square" lIns="0" tIns="0" rIns="0" bIns="0" rtlCol="0" anchor="t">
            <a:normAutofit/>
          </a:bodyPr>
          <a:lstStyle/>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import pandas as pd</a:t>
            </a:r>
            <a:endParaRPr lang="en-US" sz="1800" dirty="0"/>
          </a:p>
          <a:p>
            <a:pPr algn="l" indent="0" marL="0">
              <a:lnSpc>
                <a:spcPct val="133000"/>
              </a:lnSpc>
              <a:buNone/>
            </a:pP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df = pd.read_csv("health_insurance.csv")</a:t>
            </a: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print("Dataset shape:", df.shape)</a:t>
            </a: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print(df.info())</a:t>
            </a: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print("Missing values:")</a:t>
            </a: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print(df.isnull().sum())</a:t>
            </a: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print("Duplicate rows:", df.duplicated().sum())</a:t>
            </a:r>
            <a:endParaRPr lang="en-US" sz="1800" dirty="0"/>
          </a:p>
          <a:p>
            <a:pPr algn="l" indent="0" marL="0">
              <a:lnSpc>
                <a:spcPct val="133000"/>
              </a:lnSpc>
              <a:buNone/>
            </a:pPr>
            <a:r>
              <a:rPr lang="en-US" sz="1800" dirty="0">
                <a:solidFill>
                  <a:srgbClr val="FF7B72"/>
                </a:solidFill>
                <a:latin typeface="Consolas" pitchFamily="34" charset="0"/>
                <a:ea typeface="Consolas" pitchFamily="34" charset="-122"/>
                <a:cs typeface="Consolas" pitchFamily="34" charset="0"/>
              </a:rPr>
              <a:t>display(df.head())</a:t>
            </a:r>
            <a:endParaRPr lang="en-US" sz="1800" dirty="0"/>
          </a:p>
        </p:txBody>
      </p:sp>
      <p:sp>
        <p:nvSpPr>
          <p:cNvPr id="9" name="Text 7"/>
          <p:cNvSpPr/>
          <p:nvPr/>
        </p:nvSpPr>
        <p:spPr>
          <a:xfrm>
            <a:off x="11791357" y="6526510"/>
            <a:ext cx="400338"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503555"/>
            <a:ext cx="11277318" cy="1173361"/>
          </a:xfrm>
          <a:prstGeom prst="rect">
            <a:avLst/>
          </a:prstGeom>
          <a:noFill/>
          <a:ln/>
        </p:spPr>
        <p:txBody>
          <a:bodyPr wrap="square" lIns="0" tIns="0" rIns="0" bIns="0" rtlCol="0" anchor="t">
            <a:normAutofit/>
          </a:bodyPr>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Health Insurance Ownership in the Sample</a:t>
            </a:r>
            <a:endParaRPr lang="en-US" sz="4400" dirty="0"/>
          </a:p>
        </p:txBody>
      </p:sp>
      <p:sp>
        <p:nvSpPr>
          <p:cNvPr id="3" name="Text 1"/>
          <p:cNvSpPr/>
          <p:nvPr/>
        </p:nvSpPr>
        <p:spPr>
          <a:xfrm>
            <a:off x="457189" y="2735263"/>
            <a:ext cx="3967361" cy="1746052"/>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19 — Have insurance</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63.3%</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11 — Do not have insurance</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36.7%</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Sample size: 30 records</a:t>
            </a:r>
            <a:endParaRPr lang="en-US" sz="1800" dirty="0"/>
          </a:p>
        </p:txBody>
      </p:sp>
      <p:sp>
        <p:nvSpPr>
          <p:cNvPr id="4" name="Text 2"/>
          <p:cNvSpPr/>
          <p:nvPr/>
        </p:nvSpPr>
        <p:spPr>
          <a:xfrm>
            <a:off x="457189" y="4599424"/>
            <a:ext cx="3967361"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Interpretation: In this sample, more records indicate insurance ownership than non-ownership.</a:t>
            </a:r>
            <a:endParaRPr lang="en-US" sz="1800" dirty="0"/>
          </a:p>
        </p:txBody>
      </p:sp>
      <p:pic>
        <p:nvPicPr>
          <p:cNvPr id="5" name="Image 0" descr="preencoded.png">    </p:cNvPr>
          <p:cNvPicPr>
            <a:picLocks noChangeAspect="1"/>
          </p:cNvPicPr>
          <p:nvPr/>
        </p:nvPicPr>
        <p:blipFill>
          <a:blip r:embed="rId1"/>
          <a:stretch>
            <a:fillRect/>
          </a:stretch>
        </p:blipFill>
        <p:spPr>
          <a:xfrm>
            <a:off x="4881639" y="1827411"/>
            <a:ext cx="6852868" cy="3244255"/>
          </a:xfrm>
          <a:prstGeom prst="rect">
            <a:avLst/>
          </a:prstGeom>
        </p:spPr>
      </p:pic>
      <p:sp>
        <p:nvSpPr>
          <p:cNvPr id="6" name="Text 3"/>
          <p:cNvSpPr/>
          <p:nvPr/>
        </p:nvSpPr>
        <p:spPr>
          <a:xfrm>
            <a:off x="11789075" y="6526510"/>
            <a:ext cx="402620"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503555"/>
            <a:ext cx="11277318" cy="586680"/>
          </a:xfrm>
          <a:prstGeom prst="rect">
            <a:avLst/>
          </a:prstGeom>
          <a:noFill/>
          <a:ln/>
        </p:spPr>
        <p:txBody>
          <a:bodyPr wrap="none" lIns="0" tIns="0" rIns="0" bIns="0" rtlCol="0" anchor="t"/>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Insurance Ownership Across Age Groups</a:t>
            </a:r>
            <a:endParaRPr lang="en-US" sz="4400" dirty="0"/>
          </a:p>
        </p:txBody>
      </p:sp>
      <p:sp>
        <p:nvSpPr>
          <p:cNvPr id="3" name="Text 1"/>
          <p:cNvSpPr/>
          <p:nvPr/>
        </p:nvSpPr>
        <p:spPr>
          <a:xfrm>
            <a:off x="11786595" y="6526510"/>
            <a:ext cx="405100"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06</a:t>
            </a:r>
            <a:endParaRPr lang="en-US" sz="1200" dirty="0"/>
          </a:p>
        </p:txBody>
      </p:sp>
      <p:sp>
        <p:nvSpPr>
          <p:cNvPr id="4" name="Text 2"/>
          <p:cNvSpPr/>
          <p:nvPr/>
        </p:nvSpPr>
        <p:spPr>
          <a:xfrm>
            <a:off x="57149" y="1731215"/>
            <a:ext cx="367090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Observation</a:t>
            </a:r>
            <a:endParaRPr lang="en-US" sz="3600" dirty="0"/>
          </a:p>
        </p:txBody>
      </p:sp>
      <p:sp>
        <p:nvSpPr>
          <p:cNvPr id="5" name="Text 3"/>
          <p:cNvSpPr/>
          <p:nvPr/>
        </p:nvSpPr>
        <p:spPr>
          <a:xfrm>
            <a:off x="57149" y="2369840"/>
            <a:ext cx="3670903" cy="2570163"/>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The 18–25 age group has fewer insured records in this sample.</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The 26–35 age group has the highest number of insured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Age-group differences in this small sample require cautious interpretation.</a:t>
            </a:r>
            <a:endParaRPr lang="en-US" sz="1800" dirty="0"/>
          </a:p>
        </p:txBody>
      </p:sp>
      <p:pic>
        <p:nvPicPr>
          <p:cNvPr id="6" name="Image 0" descr="preencoded.png">    </p:cNvPr>
          <p:cNvPicPr>
            <a:picLocks noChangeAspect="1"/>
          </p:cNvPicPr>
          <p:nvPr/>
        </p:nvPicPr>
        <p:blipFill>
          <a:blip r:embed="rId1"/>
          <a:stretch>
            <a:fillRect/>
          </a:stretch>
        </p:blipFill>
        <p:spPr>
          <a:xfrm>
            <a:off x="4180477" y="1692970"/>
            <a:ext cx="7724879" cy="37796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503555"/>
            <a:ext cx="11277318" cy="586680"/>
          </a:xfrm>
          <a:prstGeom prst="rect">
            <a:avLst/>
          </a:prstGeom>
          <a:noFill/>
          <a:ln/>
        </p:spPr>
        <p:txBody>
          <a:bodyPr wrap="none" lIns="0" tIns="0" rIns="0" bIns="0" rtlCol="0" anchor="t"/>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What Influences Insurance Choices?</a:t>
            </a:r>
            <a:endParaRPr lang="en-US" sz="4400" dirty="0"/>
          </a:p>
        </p:txBody>
      </p:sp>
      <p:sp>
        <p:nvSpPr>
          <p:cNvPr id="3" name="Text 1"/>
          <p:cNvSpPr/>
          <p:nvPr/>
        </p:nvSpPr>
        <p:spPr>
          <a:xfrm>
            <a:off x="457189" y="1507576"/>
            <a:ext cx="5410065"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Preferred plans</a:t>
            </a:r>
            <a:endParaRPr lang="en-US" sz="3600" dirty="0"/>
          </a:p>
        </p:txBody>
      </p:sp>
      <p:sp>
        <p:nvSpPr>
          <p:cNvPr id="4" name="Text 2"/>
          <p:cNvSpPr/>
          <p:nvPr/>
        </p:nvSpPr>
        <p:spPr>
          <a:xfrm>
            <a:off x="457189" y="2146201"/>
            <a:ext cx="5410065" cy="138668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Basic: 9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Standard: 9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Comprehensive: 8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Unsure: 4 records</a:t>
            </a:r>
            <a:endParaRPr lang="en-US" sz="1800" dirty="0"/>
          </a:p>
        </p:txBody>
      </p:sp>
      <p:sp>
        <p:nvSpPr>
          <p:cNvPr id="5" name="Text 3"/>
          <p:cNvSpPr/>
          <p:nvPr/>
        </p:nvSpPr>
        <p:spPr>
          <a:xfrm>
            <a:off x="457189" y="3748927"/>
            <a:ext cx="5410065"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Main decision factors</a:t>
            </a:r>
            <a:endParaRPr lang="en-US" sz="3600" dirty="0"/>
          </a:p>
        </p:txBody>
      </p:sp>
      <p:sp>
        <p:nvSpPr>
          <p:cNvPr id="6" name="Text 4"/>
          <p:cNvSpPr/>
          <p:nvPr/>
        </p:nvSpPr>
        <p:spPr>
          <a:xfrm>
            <a:off x="457189" y="4387552"/>
            <a:ext cx="5410065" cy="1746052"/>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Price: 11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Coverage: 6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Hospital network: 5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Claim service: 5 records</a:t>
            </a:r>
            <a:endParaRPr lang="en-US" sz="1800" dirty="0"/>
          </a:p>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Brand trust: 3 records</a:t>
            </a:r>
            <a:endParaRPr lang="en-US" sz="1800" dirty="0"/>
          </a:p>
        </p:txBody>
      </p:sp>
      <p:pic>
        <p:nvPicPr>
          <p:cNvPr id="7" name="Image 0" descr="preencoded.png">    </p:cNvPr>
          <p:cNvPicPr>
            <a:picLocks noChangeAspect="1"/>
          </p:cNvPicPr>
          <p:nvPr/>
        </p:nvPicPr>
        <p:blipFill>
          <a:blip r:embed="rId1"/>
          <a:stretch>
            <a:fillRect/>
          </a:stretch>
        </p:blipFill>
        <p:spPr>
          <a:xfrm>
            <a:off x="6553036" y="1469330"/>
            <a:ext cx="4952876" cy="4664273"/>
          </a:xfrm>
          <a:prstGeom prst="rect">
            <a:avLst/>
          </a:prstGeom>
        </p:spPr>
      </p:pic>
      <p:sp>
        <p:nvSpPr>
          <p:cNvPr id="8" name="Text 5"/>
          <p:cNvSpPr/>
          <p:nvPr/>
        </p:nvSpPr>
        <p:spPr>
          <a:xfrm>
            <a:off x="11804156" y="6526510"/>
            <a:ext cx="387539"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503555"/>
            <a:ext cx="11277318" cy="586680"/>
          </a:xfrm>
          <a:prstGeom prst="rect">
            <a:avLst/>
          </a:prstGeom>
          <a:noFill/>
          <a:ln/>
        </p:spPr>
        <p:txBody>
          <a:bodyPr wrap="none" lIns="0" tIns="0" rIns="0" bIns="0" rtlCol="0" anchor="t"/>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What If Premiums Increase by 10%?</a:t>
            </a:r>
            <a:endParaRPr lang="en-US" sz="4400" dirty="0"/>
          </a:p>
        </p:txBody>
      </p:sp>
      <p:sp>
        <p:nvSpPr>
          <p:cNvPr id="3" name="Text 1"/>
          <p:cNvSpPr/>
          <p:nvPr/>
        </p:nvSpPr>
        <p:spPr>
          <a:xfrm>
            <a:off x="457189" y="1244540"/>
            <a:ext cx="11734506" cy="308570"/>
          </a:xfrm>
          <a:prstGeom prst="rect">
            <a:avLst/>
          </a:prstGeom>
          <a:noFill/>
          <a:ln/>
        </p:spPr>
        <p:txBody>
          <a:bodyPr wrap="none" lIns="0" tIns="0" rIns="0" bIns="0" rtlCol="0" anchor="t"/>
          <a:lstStyle/>
          <a:p>
            <a:pPr algn="l" indent="0" marL="0">
              <a:lnSpc>
                <a:spcPct val="113000"/>
              </a:lnSpc>
              <a:buNone/>
            </a:pPr>
            <a:r>
              <a:rPr lang="en-US" sz="1800" dirty="0">
                <a:solidFill>
                  <a:srgbClr val="E3EEE7"/>
                </a:solidFill>
                <a:latin typeface="Schibsted Grotesk" pitchFamily="34" charset="0"/>
                <a:ea typeface="Schibsted Grotesk" pitchFamily="34" charset="-122"/>
                <a:cs typeface="Schibsted Grotesk" pitchFamily="34" charset="0"/>
              </a:rPr>
              <a:t>Responses to a hypothetical situation</a:t>
            </a:r>
            <a:endParaRPr lang="en-US" sz="1800" dirty="0"/>
          </a:p>
        </p:txBody>
      </p:sp>
      <p:sp>
        <p:nvSpPr>
          <p:cNvPr id="4" name="Text 2"/>
          <p:cNvSpPr/>
          <p:nvPr/>
        </p:nvSpPr>
        <p:spPr>
          <a:xfrm>
            <a:off x="11789075" y="6526510"/>
            <a:ext cx="402620"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08</a:t>
            </a:r>
            <a:endParaRPr lang="en-US" sz="1200" dirty="0"/>
          </a:p>
        </p:txBody>
      </p:sp>
      <p:sp>
        <p:nvSpPr>
          <p:cNvPr id="5" name="Text 3"/>
          <p:cNvSpPr/>
          <p:nvPr/>
        </p:nvSpPr>
        <p:spPr>
          <a:xfrm>
            <a:off x="300129" y="2138210"/>
            <a:ext cx="5288822"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Key observation</a:t>
            </a:r>
            <a:endParaRPr lang="en-US" sz="3600" dirty="0"/>
          </a:p>
        </p:txBody>
      </p:sp>
      <p:sp>
        <p:nvSpPr>
          <p:cNvPr id="6" name="Text 4"/>
          <p:cNvSpPr/>
          <p:nvPr/>
        </p:nvSpPr>
        <p:spPr>
          <a:xfrm>
            <a:off x="300129" y="2780645"/>
            <a:ext cx="5288822" cy="61714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Comparing plans is a common response to a premium increase.</a:t>
            </a:r>
            <a:endParaRPr lang="en-US" sz="1800" dirty="0"/>
          </a:p>
        </p:txBody>
      </p:sp>
      <p:sp>
        <p:nvSpPr>
          <p:cNvPr id="7" name="Text 5"/>
          <p:cNvSpPr/>
          <p:nvPr/>
        </p:nvSpPr>
        <p:spPr>
          <a:xfrm>
            <a:off x="300129" y="3934956"/>
            <a:ext cx="5288822" cy="61714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Some sample records indicate a possible move to lower coverage or non-renewal.</a:t>
            </a:r>
            <a:endParaRPr lang="en-US" sz="1800" dirty="0"/>
          </a:p>
        </p:txBody>
      </p:sp>
      <p:sp>
        <p:nvSpPr>
          <p:cNvPr id="8" name="Text 6"/>
          <p:cNvSpPr/>
          <p:nvPr/>
        </p:nvSpPr>
        <p:spPr>
          <a:xfrm>
            <a:off x="300129" y="5089267"/>
            <a:ext cx="5288822" cy="61714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These are hypothetical responses, not observed purchasing behaviour.</a:t>
            </a:r>
            <a:endParaRPr lang="en-US" sz="1800" dirty="0"/>
          </a:p>
        </p:txBody>
      </p:sp>
      <p:pic>
        <p:nvPicPr>
          <p:cNvPr id="9" name="Image 0" descr="preencoded.png">    </p:cNvPr>
          <p:cNvPicPr>
            <a:picLocks noChangeAspect="1"/>
          </p:cNvPicPr>
          <p:nvPr/>
        </p:nvPicPr>
        <p:blipFill>
          <a:blip r:embed="rId1"/>
          <a:stretch>
            <a:fillRect/>
          </a:stretch>
        </p:blipFill>
        <p:spPr>
          <a:xfrm>
            <a:off x="6222844" y="2095500"/>
            <a:ext cx="5587860" cy="254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503555"/>
            <a:ext cx="11277318" cy="1173361"/>
          </a:xfrm>
          <a:prstGeom prst="rect">
            <a:avLst/>
          </a:prstGeom>
          <a:noFill/>
          <a:ln/>
        </p:spPr>
        <p:txBody>
          <a:bodyPr wrap="square" lIns="0" tIns="0" rIns="0" bIns="0" rtlCol="0" anchor="t">
            <a:normAutofit/>
          </a:bodyPr>
          <a:lstStyle/>
          <a:p>
            <a:pPr algn="l" indent="0" marL="0">
              <a:lnSpc>
                <a:spcPct val="87000"/>
              </a:lnSpc>
              <a:buNone/>
            </a:pPr>
            <a:r>
              <a:rPr lang="en-US" sz="4400" spc="-66" kern="100" dirty="0">
                <a:solidFill>
                  <a:srgbClr val="FFFFFF"/>
                </a:solidFill>
                <a:latin typeface="Schibsted Grotesk ExtraBold" pitchFamily="34" charset="0"/>
                <a:ea typeface="Schibsted Grotesk ExtraBold" pitchFamily="34" charset="-122"/>
                <a:cs typeface="Schibsted Grotesk ExtraBold" pitchFamily="34" charset="0"/>
              </a:rPr>
              <a:t>Key Findings and Economic Interpretation</a:t>
            </a:r>
            <a:endParaRPr lang="en-US" sz="4400" dirty="0"/>
          </a:p>
        </p:txBody>
      </p:sp>
      <p:sp>
        <p:nvSpPr>
          <p:cNvPr id="3" name="Text 1"/>
          <p:cNvSpPr/>
          <p:nvPr/>
        </p:nvSpPr>
        <p:spPr>
          <a:xfrm>
            <a:off x="457189" y="2094256"/>
            <a:ext cx="5120552" cy="960041"/>
          </a:xfrm>
          <a:prstGeom prst="rect">
            <a:avLst/>
          </a:prstGeom>
          <a:noFill/>
          <a:ln/>
        </p:spPr>
        <p:txBody>
          <a:bodyPr wrap="square" lIns="0" tIns="0" rIns="0" bIns="0" rtlCol="0" anchor="t">
            <a:normAutofit/>
          </a:bodyPr>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Findings from the sample</a:t>
            </a:r>
            <a:endParaRPr lang="en-US" sz="3600" dirty="0"/>
          </a:p>
        </p:txBody>
      </p:sp>
      <p:sp>
        <p:nvSpPr>
          <p:cNvPr id="4" name="Text 2"/>
          <p:cNvSpPr/>
          <p:nvPr/>
        </p:nvSpPr>
        <p:spPr>
          <a:xfrm>
            <a:off x="457189" y="3212902"/>
            <a:ext cx="5120552" cy="2261592"/>
          </a:xfrm>
          <a:prstGeom prst="rect">
            <a:avLst/>
          </a:prstGeom>
          <a:noFill/>
          <a:ln/>
        </p:spPr>
        <p:txBody>
          <a:bodyPr wrap="square" lIns="0" tIns="0" rIns="0" bIns="0" rtlCol="0" anchor="t">
            <a:normAutofit/>
          </a:bodyPr>
          <a:lstStyle/>
          <a:p>
            <a:pPr algn="l" marL="365760" indent="-365760">
              <a:lnSpc>
                <a:spcPct val="113000"/>
              </a:lnSpc>
              <a:buSzPct val="100000"/>
              <a:buFont typeface="+mj-lt"/>
              <a:buAutoNum type="arabicPeriod" startAt="1"/>
            </a:pPr>
            <a:r>
              <a:rPr lang="en-US" sz="1800" dirty="0">
                <a:solidFill>
                  <a:srgbClr val="E3EEE7"/>
                </a:solidFill>
                <a:latin typeface="Schibsted Grotesk" pitchFamily="34" charset="0"/>
                <a:ea typeface="Schibsted Grotesk" pitchFamily="34" charset="-122"/>
                <a:cs typeface="Schibsted Grotesk" pitchFamily="34" charset="0"/>
              </a:rPr>
              <a:t>Insurance ownership differs across the age groups in the sample.</a:t>
            </a:r>
            <a:endParaRPr lang="en-US" sz="1800" dirty="0"/>
          </a:p>
          <a:p>
            <a:pPr algn="l" marL="365760" indent="-365760">
              <a:lnSpc>
                <a:spcPct val="113000"/>
              </a:lnSpc>
              <a:buSzPct val="100000"/>
              <a:buFont typeface="+mj-lt"/>
              <a:buAutoNum type="arabicPeriod" startAt="2"/>
            </a:pPr>
            <a:r>
              <a:rPr lang="en-US" sz="1800" dirty="0">
                <a:solidFill>
                  <a:srgbClr val="E3EEE7"/>
                </a:solidFill>
                <a:latin typeface="Schibsted Grotesk" pitchFamily="34" charset="0"/>
                <a:ea typeface="Schibsted Grotesk" pitchFamily="34" charset="-122"/>
                <a:cs typeface="Schibsted Grotesk" pitchFamily="34" charset="0"/>
              </a:rPr>
              <a:t>Price is the most frequently selected decision factor.</a:t>
            </a:r>
            <a:endParaRPr lang="en-US" sz="1800" dirty="0"/>
          </a:p>
          <a:p>
            <a:pPr algn="l" marL="365760" indent="-365760">
              <a:lnSpc>
                <a:spcPct val="113000"/>
              </a:lnSpc>
              <a:buSzPct val="100000"/>
              <a:buFont typeface="+mj-lt"/>
              <a:buAutoNum type="arabicPeriod" startAt="3"/>
            </a:pPr>
            <a:r>
              <a:rPr lang="en-US" sz="1800" dirty="0">
                <a:solidFill>
                  <a:srgbClr val="E3EEE7"/>
                </a:solidFill>
                <a:latin typeface="Schibsted Grotesk" pitchFamily="34" charset="0"/>
                <a:ea typeface="Schibsted Grotesk" pitchFamily="34" charset="-122"/>
                <a:cs typeface="Schibsted Grotesk" pitchFamily="34" charset="0"/>
              </a:rPr>
              <a:t>Some records indicate possible changes in coverage or renewal decisions after a premium increase.</a:t>
            </a:r>
            <a:endParaRPr lang="en-US" sz="1800" dirty="0"/>
          </a:p>
        </p:txBody>
      </p:sp>
      <p:sp>
        <p:nvSpPr>
          <p:cNvPr id="5" name="Shape 3"/>
          <p:cNvSpPr/>
          <p:nvPr/>
        </p:nvSpPr>
        <p:spPr>
          <a:xfrm>
            <a:off x="5882433" y="1827411"/>
            <a:ext cx="5852073" cy="3875683"/>
          </a:xfrm>
          <a:prstGeom prst="rect">
            <a:avLst/>
          </a:prstGeom>
          <a:solidFill>
            <a:srgbClr val="1E4F40"/>
          </a:solidFill>
          <a:ln/>
        </p:spPr>
      </p:sp>
      <p:sp>
        <p:nvSpPr>
          <p:cNvPr id="6" name="Text 4"/>
          <p:cNvSpPr/>
          <p:nvPr/>
        </p:nvSpPr>
        <p:spPr>
          <a:xfrm>
            <a:off x="6161826" y="2018056"/>
            <a:ext cx="5293287" cy="960041"/>
          </a:xfrm>
          <a:prstGeom prst="rect">
            <a:avLst/>
          </a:prstGeom>
          <a:noFill/>
          <a:ln/>
        </p:spPr>
        <p:txBody>
          <a:bodyPr wrap="square" lIns="0" tIns="0" rIns="0" bIns="0" rtlCol="0" anchor="t">
            <a:normAutofit/>
          </a:bodyPr>
          <a:lstStyle/>
          <a:p>
            <a:pPr algn="l" indent="0" marL="0">
              <a:lnSpc>
                <a:spcPct val="87000"/>
              </a:lnSpc>
              <a:buNone/>
            </a:pPr>
            <a:r>
              <a:rPr lang="en-US" sz="3600" spc="-54" kern="100" dirty="0">
                <a:solidFill>
                  <a:srgbClr val="FFFFFF"/>
                </a:solidFill>
                <a:latin typeface="Schibsted Grotesk ExtraBold" pitchFamily="34" charset="0"/>
                <a:ea typeface="Schibsted Grotesk ExtraBold" pitchFamily="34" charset="-122"/>
                <a:cs typeface="Schibsted Grotesk ExtraBold" pitchFamily="34" charset="0"/>
              </a:rPr>
              <a:t>Economic concept: Adverse selection</a:t>
            </a:r>
            <a:endParaRPr lang="en-US" sz="3600" dirty="0"/>
          </a:p>
        </p:txBody>
      </p:sp>
      <p:sp>
        <p:nvSpPr>
          <p:cNvPr id="7" name="Text 5"/>
          <p:cNvSpPr/>
          <p:nvPr/>
        </p:nvSpPr>
        <p:spPr>
          <a:xfrm>
            <a:off x="6161826" y="3136702"/>
            <a:ext cx="5293287" cy="1902222"/>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FFFFFF"/>
                </a:solidFill>
                <a:latin typeface="Schibsted Grotesk" pitchFamily="34" charset="0"/>
                <a:ea typeface="Schibsted Grotesk" pitchFamily="34" charset="-122"/>
                <a:cs typeface="Schibsted Grotesk" pitchFamily="34" charset="0"/>
              </a:rPr>
              <a:t>Adverse selection occurs when people with higher expected healthcare costs are more likely to buy or retain insurance than people with lower expected costs.</a:t>
            </a:r>
            <a:endParaRPr lang="en-US" sz="1800" dirty="0"/>
          </a:p>
          <a:p>
            <a:pPr algn="l" marL="365760" indent="-365760">
              <a:lnSpc>
                <a:spcPct val="113000"/>
              </a:lnSpc>
              <a:buSzPct val="100000"/>
              <a:buChar char="•"/>
            </a:pPr>
            <a:r>
              <a:rPr lang="en-US" sz="1800" dirty="0">
                <a:solidFill>
                  <a:srgbClr val="FFFFFF"/>
                </a:solidFill>
                <a:latin typeface="Schibsted Grotesk" pitchFamily="34" charset="0"/>
                <a:ea typeface="Schibsted Grotesk" pitchFamily="34" charset="-122"/>
                <a:cs typeface="Schibsted Grotesk" pitchFamily="34" charset="0"/>
              </a:rPr>
              <a:t>This can increase the average risk of the insured group and put pressure on premiums.</a:t>
            </a:r>
            <a:endParaRPr lang="en-US" sz="1800" dirty="0"/>
          </a:p>
        </p:txBody>
      </p:sp>
      <p:sp>
        <p:nvSpPr>
          <p:cNvPr id="8" name="Text 6"/>
          <p:cNvSpPr/>
          <p:nvPr/>
        </p:nvSpPr>
        <p:spPr>
          <a:xfrm>
            <a:off x="457189" y="5888514"/>
            <a:ext cx="11277318"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E3EEE7"/>
                </a:solidFill>
                <a:latin typeface="Schibsted Grotesk" pitchFamily="34" charset="0"/>
                <a:ea typeface="Schibsted Grotesk" pitchFamily="34" charset="-122"/>
                <a:cs typeface="Schibsted Grotesk" pitchFamily="34" charset="0"/>
              </a:rPr>
              <a:t>Limitation: This dataset does not contain individual health-risk or claims information, so it cannot prove adverse selection.</a:t>
            </a:r>
            <a:endParaRPr lang="en-US" sz="1600" dirty="0"/>
          </a:p>
        </p:txBody>
      </p:sp>
      <p:sp>
        <p:nvSpPr>
          <p:cNvPr id="9" name="Text 7"/>
          <p:cNvSpPr/>
          <p:nvPr/>
        </p:nvSpPr>
        <p:spPr>
          <a:xfrm>
            <a:off x="11786595" y="6526510"/>
            <a:ext cx="405100"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189" y="505640"/>
            <a:ext cx="9245369" cy="1157486"/>
          </a:xfrm>
          <a:prstGeom prst="rect">
            <a:avLst/>
          </a:prstGeom>
          <a:noFill/>
          <a:ln/>
        </p:spPr>
        <p:txBody>
          <a:bodyPr wrap="square" lIns="0" tIns="0" rIns="0" bIns="0" rtlCol="0" anchor="t">
            <a:normAutofit/>
          </a:bodyPr>
          <a:lstStyle/>
          <a:p>
            <a:pPr algn="l" indent="0" marL="0">
              <a:lnSpc>
                <a:spcPct val="87000"/>
              </a:lnSpc>
              <a:buNone/>
            </a:pPr>
            <a:r>
              <a:rPr lang="en-US" sz="4350" spc="-65" kern="100" dirty="0">
                <a:solidFill>
                  <a:srgbClr val="FFFFFF"/>
                </a:solidFill>
                <a:latin typeface="Schibsted Grotesk ExtraBold" pitchFamily="34" charset="0"/>
                <a:ea typeface="Schibsted Grotesk ExtraBold" pitchFamily="34" charset="-122"/>
                <a:cs typeface="Schibsted Grotesk ExtraBold" pitchFamily="34" charset="0"/>
              </a:rPr>
              <a:t>Recommendations and Conclusion</a:t>
            </a:r>
            <a:endParaRPr lang="en-US" sz="4350" dirty="0"/>
          </a:p>
        </p:txBody>
      </p:sp>
      <p:sp>
        <p:nvSpPr>
          <p:cNvPr id="3" name="Text 1"/>
          <p:cNvSpPr/>
          <p:nvPr/>
        </p:nvSpPr>
        <p:spPr>
          <a:xfrm>
            <a:off x="457189" y="1817999"/>
            <a:ext cx="4470288" cy="390823"/>
          </a:xfrm>
          <a:prstGeom prst="rect">
            <a:avLst/>
          </a:prstGeom>
          <a:noFill/>
          <a:ln/>
        </p:spPr>
        <p:txBody>
          <a:bodyPr wrap="none" lIns="0" tIns="0" rIns="0" bIns="0" rtlCol="0" anchor="t"/>
          <a:lstStyle/>
          <a:p>
            <a:pPr algn="l" indent="0" marL="0">
              <a:lnSpc>
                <a:spcPct val="108000"/>
              </a:lnSpc>
              <a:buNone/>
            </a:pPr>
            <a:r>
              <a:rPr lang="en-US" sz="2350" dirty="0">
                <a:solidFill>
                  <a:srgbClr val="FFFFFF"/>
                </a:solidFill>
                <a:latin typeface="Schibsted Grotesk Medium" pitchFamily="34" charset="0"/>
                <a:ea typeface="Schibsted Grotesk Medium" pitchFamily="34" charset="-122"/>
                <a:cs typeface="Schibsted Grotesk Medium" pitchFamily="34" charset="0"/>
              </a:rPr>
              <a:t>Recommendations</a:t>
            </a:r>
            <a:endParaRPr lang="en-US" sz="2350" dirty="0"/>
          </a:p>
        </p:txBody>
      </p:sp>
      <p:sp>
        <p:nvSpPr>
          <p:cNvPr id="4" name="Text 2"/>
          <p:cNvSpPr/>
          <p:nvPr/>
        </p:nvSpPr>
        <p:spPr>
          <a:xfrm>
            <a:off x="457189" y="2336006"/>
            <a:ext cx="4470288" cy="2566789"/>
          </a:xfrm>
          <a:prstGeom prst="rect">
            <a:avLst/>
          </a:prstGeom>
          <a:noFill/>
          <a:ln/>
        </p:spPr>
        <p:txBody>
          <a:bodyPr wrap="square" lIns="0" tIns="0" rIns="0" bIns="0" rtlCol="0" anchor="t">
            <a:normAutofit/>
          </a:bodyPr>
          <a:lstStyle/>
          <a:p>
            <a:pPr algn="l" marL="365760" indent="-365760">
              <a:lnSpc>
                <a:spcPct val="112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Explain policy coverage, exclusions and premiums clearly.</a:t>
            </a:r>
            <a:endParaRPr lang="en-US" sz="1800" dirty="0"/>
          </a:p>
          <a:p>
            <a:pPr algn="l" marL="365760" indent="-365760">
              <a:lnSpc>
                <a:spcPct val="112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Offer suitable plan options for different budgets.</a:t>
            </a:r>
            <a:endParaRPr lang="en-US" sz="1800" dirty="0"/>
          </a:p>
          <a:p>
            <a:pPr algn="l" marL="365760" indent="-365760">
              <a:lnSpc>
                <a:spcPct val="112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Make claim procedures and hospital networks easier to understand.</a:t>
            </a:r>
            <a:endParaRPr lang="en-US" sz="1800" dirty="0"/>
          </a:p>
          <a:p>
            <a:pPr algn="l" marL="365760" indent="-365760">
              <a:lnSpc>
                <a:spcPct val="112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Study real enrolment, risk and claims data to investigate adverse selection.</a:t>
            </a:r>
            <a:endParaRPr lang="en-US" sz="1800" dirty="0"/>
          </a:p>
        </p:txBody>
      </p:sp>
      <p:sp>
        <p:nvSpPr>
          <p:cNvPr id="5" name="Text 3"/>
          <p:cNvSpPr/>
          <p:nvPr/>
        </p:nvSpPr>
        <p:spPr>
          <a:xfrm>
            <a:off x="457189" y="5013920"/>
            <a:ext cx="4470288" cy="1320403"/>
          </a:xfrm>
          <a:prstGeom prst="rect">
            <a:avLst/>
          </a:prstGeom>
          <a:noFill/>
          <a:ln/>
        </p:spPr>
        <p:txBody>
          <a:bodyPr wrap="square" lIns="0" tIns="0" rIns="0" bIns="0" rtlCol="0" anchor="t"/>
          <a:lstStyle/>
          <a:p>
            <a:pPr algn="l" indent="0" marL="0">
              <a:lnSpc>
                <a:spcPct val="112000"/>
              </a:lnSpc>
              <a:spcAft>
                <a:spcPts val="850"/>
              </a:spcAft>
              <a:buNone/>
            </a:pPr>
            <a:r>
              <a:rPr lang="en-US" sz="1800" dirty="0">
                <a:solidFill>
                  <a:srgbClr val="E3EEE7"/>
                </a:solidFill>
                <a:latin typeface="Schibsted Grotesk" pitchFamily="34" charset="0"/>
                <a:ea typeface="Schibsted Grotesk" pitchFamily="34" charset="-122"/>
                <a:cs typeface="Schibsted Grotesk" pitchFamily="34" charset="0"/>
              </a:rPr>
              <a:t>Data: project demo CSV. </a:t>
            </a:r>
            <a:endParaRPr lang="en-US" sz="1800" dirty="0"/>
          </a:p>
          <a:p>
            <a:pPr algn="l" indent="0" marL="0">
              <a:lnSpc>
                <a:spcPct val="112000"/>
              </a:lnSpc>
              <a:buNone/>
            </a:pPr>
            <a:r>
              <a:rPr lang="en-US" sz="1800" dirty="0">
                <a:solidFill>
                  <a:srgbClr val="E3EEE7"/>
                </a:solidFill>
                <a:latin typeface="Schibsted Grotesk" pitchFamily="34" charset="0"/>
                <a:ea typeface="Schibsted Grotesk" pitchFamily="34" charset="-122"/>
                <a:cs typeface="Schibsted Grotesk" pitchFamily="34" charset="0"/>
              </a:rPr>
              <a:t>Concepts: IRDAI Handbook of Indian Insurance; Ministry of Health and Family Welfare, National Health Accounts of India.</a:t>
            </a:r>
            <a:endParaRPr lang="en-US" sz="1800" dirty="0"/>
          </a:p>
        </p:txBody>
      </p:sp>
      <p:sp>
        <p:nvSpPr>
          <p:cNvPr id="6" name="Text 4"/>
          <p:cNvSpPr/>
          <p:nvPr/>
        </p:nvSpPr>
        <p:spPr>
          <a:xfrm>
            <a:off x="5232269" y="1817999"/>
            <a:ext cx="4470288" cy="390823"/>
          </a:xfrm>
          <a:prstGeom prst="rect">
            <a:avLst/>
          </a:prstGeom>
          <a:noFill/>
          <a:ln/>
        </p:spPr>
        <p:txBody>
          <a:bodyPr wrap="none" lIns="0" tIns="0" rIns="0" bIns="0" rtlCol="0" anchor="t"/>
          <a:lstStyle/>
          <a:p>
            <a:pPr algn="l" indent="0" marL="0">
              <a:lnSpc>
                <a:spcPct val="108000"/>
              </a:lnSpc>
              <a:buNone/>
            </a:pPr>
            <a:r>
              <a:rPr lang="en-US" sz="2350" dirty="0">
                <a:solidFill>
                  <a:srgbClr val="FFFFFF"/>
                </a:solidFill>
                <a:latin typeface="Schibsted Grotesk Medium" pitchFamily="34" charset="0"/>
                <a:ea typeface="Schibsted Grotesk Medium" pitchFamily="34" charset="-122"/>
                <a:cs typeface="Schibsted Grotesk Medium" pitchFamily="34" charset="0"/>
              </a:rPr>
              <a:t>Limitations</a:t>
            </a:r>
            <a:endParaRPr lang="en-US" sz="2350" dirty="0"/>
          </a:p>
        </p:txBody>
      </p:sp>
      <p:sp>
        <p:nvSpPr>
          <p:cNvPr id="7" name="Text 5"/>
          <p:cNvSpPr/>
          <p:nvPr/>
        </p:nvSpPr>
        <p:spPr>
          <a:xfrm>
            <a:off x="5232269" y="2336006"/>
            <a:ext cx="4470288" cy="1258689"/>
          </a:xfrm>
          <a:prstGeom prst="rect">
            <a:avLst/>
          </a:prstGeom>
          <a:noFill/>
          <a:ln/>
        </p:spPr>
        <p:txBody>
          <a:bodyPr wrap="square" lIns="0" tIns="0" rIns="0" bIns="0" rtlCol="0" anchor="t">
            <a:normAutofit/>
          </a:bodyPr>
          <a:lstStyle/>
          <a:p>
            <a:pPr algn="l" marL="365760" indent="-365760">
              <a:lnSpc>
                <a:spcPct val="112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The analysis uses 30 sample-generated records.</a:t>
            </a:r>
            <a:endParaRPr lang="en-US" sz="1800" dirty="0"/>
          </a:p>
          <a:p>
            <a:pPr algn="l" marL="365760" indent="-365760">
              <a:lnSpc>
                <a:spcPct val="112000"/>
              </a:lnSpc>
              <a:buSzPct val="100000"/>
              <a:buChar char="•"/>
            </a:pPr>
            <a:r>
              <a:rPr lang="en-US" sz="1800" dirty="0">
                <a:solidFill>
                  <a:srgbClr val="E3EEE7"/>
                </a:solidFill>
                <a:latin typeface="Schibsted Grotesk" pitchFamily="34" charset="0"/>
                <a:ea typeface="Schibsted Grotesk" pitchFamily="34" charset="-122"/>
                <a:cs typeface="Schibsted Grotesk" pitchFamily="34" charset="0"/>
              </a:rPr>
              <a:t>The dataset does not contain actual policy prices, health risks or claims.</a:t>
            </a:r>
            <a:endParaRPr lang="en-US" sz="1800" dirty="0"/>
          </a:p>
        </p:txBody>
      </p:sp>
      <p:sp>
        <p:nvSpPr>
          <p:cNvPr id="8" name="Text 6"/>
          <p:cNvSpPr/>
          <p:nvPr/>
        </p:nvSpPr>
        <p:spPr>
          <a:xfrm>
            <a:off x="5232269" y="4192899"/>
            <a:ext cx="4470288" cy="390823"/>
          </a:xfrm>
          <a:prstGeom prst="rect">
            <a:avLst/>
          </a:prstGeom>
          <a:noFill/>
          <a:ln/>
        </p:spPr>
        <p:txBody>
          <a:bodyPr wrap="none" lIns="0" tIns="0" rIns="0" bIns="0" rtlCol="0" anchor="t"/>
          <a:lstStyle/>
          <a:p>
            <a:pPr algn="l" indent="0" marL="0">
              <a:lnSpc>
                <a:spcPct val="108000"/>
              </a:lnSpc>
              <a:buNone/>
            </a:pPr>
            <a:r>
              <a:rPr lang="en-US" sz="2350" dirty="0">
                <a:solidFill>
                  <a:srgbClr val="FFFFFF"/>
                </a:solidFill>
                <a:latin typeface="Schibsted Grotesk Medium" pitchFamily="34" charset="0"/>
                <a:ea typeface="Schibsted Grotesk Medium" pitchFamily="34" charset="-122"/>
                <a:cs typeface="Schibsted Grotesk Medium" pitchFamily="34" charset="0"/>
              </a:rPr>
              <a:t>Conclusion</a:t>
            </a:r>
            <a:endParaRPr lang="en-US" sz="2350" dirty="0"/>
          </a:p>
        </p:txBody>
      </p:sp>
      <p:sp>
        <p:nvSpPr>
          <p:cNvPr id="9" name="Text 7"/>
          <p:cNvSpPr/>
          <p:nvPr/>
        </p:nvSpPr>
        <p:spPr>
          <a:xfrm>
            <a:off x="5232269" y="4716279"/>
            <a:ext cx="4470288" cy="1209278"/>
          </a:xfrm>
          <a:prstGeom prst="rect">
            <a:avLst/>
          </a:prstGeom>
          <a:noFill/>
          <a:ln/>
        </p:spPr>
        <p:txBody>
          <a:bodyPr wrap="square" lIns="0" tIns="0" rIns="0" bIns="0" rtlCol="0" anchor="t">
            <a:normAutofit/>
          </a:bodyPr>
          <a:lstStyle/>
          <a:p>
            <a:pPr algn="l" indent="0" marL="0">
              <a:lnSpc>
                <a:spcPct val="112000"/>
              </a:lnSpc>
              <a:buNone/>
            </a:pPr>
            <a:r>
              <a:rPr lang="en-US" sz="1800" dirty="0">
                <a:solidFill>
                  <a:srgbClr val="E3EEE7"/>
                </a:solidFill>
                <a:latin typeface="Schibsted Grotesk" pitchFamily="34" charset="0"/>
                <a:ea typeface="Schibsted Grotesk" pitchFamily="34" charset="-122"/>
                <a:cs typeface="Schibsted Grotesk" pitchFamily="34" charset="0"/>
              </a:rPr>
              <a:t>Python can help organise insurance data and identify patterns. Reliable conclusions about the real insurance market require genuine, representative data.</a:t>
            </a:r>
            <a:endParaRPr lang="en-US" sz="1800" dirty="0"/>
          </a:p>
        </p:txBody>
      </p:sp>
      <p:pic>
        <p:nvPicPr>
          <p:cNvPr id="10" name="Image 0" descr="preencoded.png">    </p:cNvPr>
          <p:cNvPicPr>
            <a:picLocks noChangeAspect="1"/>
          </p:cNvPicPr>
          <p:nvPr/>
        </p:nvPicPr>
        <p:blipFill>
          <a:blip r:embed="rId1"/>
          <a:stretch>
            <a:fillRect/>
          </a:stretch>
        </p:blipFill>
        <p:spPr>
          <a:xfrm>
            <a:off x="10159746" y="0"/>
            <a:ext cx="2031949" cy="6858000"/>
          </a:xfrm>
          <a:prstGeom prst="rect">
            <a:avLst/>
          </a:prstGeom>
        </p:spPr>
      </p:pic>
      <p:sp>
        <p:nvSpPr>
          <p:cNvPr id="11" name="Text 8"/>
          <p:cNvSpPr/>
          <p:nvPr/>
        </p:nvSpPr>
        <p:spPr>
          <a:xfrm>
            <a:off x="217879" y="6526510"/>
            <a:ext cx="755135" cy="205680"/>
          </a:xfrm>
          <a:prstGeom prst="rect">
            <a:avLst/>
          </a:prstGeom>
          <a:noFill/>
          <a:ln/>
        </p:spPr>
        <p:txBody>
          <a:bodyPr wrap="none" lIns="0" tIns="0" rIns="0" bIns="0" rtlCol="0" anchor="ctr"/>
          <a:lstStyle/>
          <a:p>
            <a:pPr algn="l" indent="0" marL="0">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0"/>
              </a:rPr>
              <a:t>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2026-10-28T20:43:38Z</dcterms:created>
  <dcterms:modified xsi:type="dcterms:W3CDTF">2026-10-28T20:43:38Z</dcterms:modified>
</cp:coreProperties>
</file>