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embeddedFontLst>
    <p:embeddedFont>
      <p:font typeface="Carlito"/>
      <p:regular r:id="rId201314"/>
    </p:embeddedFont>
    <p:embeddedFont>
      <p:font typeface="Carlito Bold"/>
      <p:regular r:id="rId201315"/>
    </p:embeddedFont>
    <p:embeddedFont>
      <p:font typeface="Istok Web"/>
      <p:regular r:id="rId201316"/>
    </p:embeddedFont>
    <p:embeddedFont>
      <p:font typeface="Istok Web Bold"/>
      <p:regular r:id="rId201317"/>
    </p:embeddedFont>
    <p:embeddedFont>
      <p:font typeface="Ubuntu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6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6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E6DF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500"/>
            </a:avLst>
          </a:prstGeom>
          <a:solidFill>
            <a:srgbClr val="FBF8F4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2A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3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1-2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1-2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2.png"/><Relationship Id="rId6" Type="http://schemas.openxmlformats.org/officeDocument/2006/relationships/image" Target="../media/image-5-3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4.png"/><Relationship Id="rId14" Type="http://schemas.openxmlformats.org/officeDocument/2006/relationships/image" Target="../media/image-5-11.png"/><Relationship Id="rId15" Type="http://schemas.openxmlformats.org/officeDocument/2006/relationships/image" Target="../media/image-5-12.png"/><Relationship Id="rId16" Type="http://schemas.openxmlformats.org/officeDocument/2006/relationships/image" Target="../media/image-5-7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1-2.png"/><Relationship Id="rId20" Type="http://schemas.openxmlformats.org/officeDocument/2006/relationships/slideLayout" Target="../slideLayouts/slideLayout3.xml"/><Relationship Id="rId2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3.png"/><Relationship Id="rId6" Type="http://schemas.openxmlformats.org/officeDocument/2006/relationships/image" Target="../media/image-8-2.png"/><Relationship Id="rId7" Type="http://schemas.openxmlformats.org/officeDocument/2006/relationships/image" Target="../media/image-8-1.png"/><Relationship Id="rId8" Type="http://schemas.openxmlformats.org/officeDocument/2006/relationships/image" Target="../media/image-8-2.png"/><Relationship Id="rId9" Type="http://schemas.openxmlformats.org/officeDocument/2006/relationships/image" Target="../media/image-1-2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1.png"/><Relationship Id="rId2" Type="http://schemas.openxmlformats.org/officeDocument/2006/relationships/image" Target="../media/image-9-2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2.png"/><Relationship Id="rId6" Type="http://schemas.openxmlformats.org/officeDocument/2006/relationships/image" Target="../media/image-5-3.png"/><Relationship Id="rId7" Type="http://schemas.openxmlformats.org/officeDocument/2006/relationships/image" Target="../media/image-5-11.png"/><Relationship Id="rId8" Type="http://schemas.openxmlformats.org/officeDocument/2006/relationships/image" Target="../media/image-5-12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2.png"/><Relationship Id="rId14" Type="http://schemas.openxmlformats.org/officeDocument/2006/relationships/image" Target="../media/image-9-12.png"/><Relationship Id="rId15" Type="http://schemas.openxmlformats.org/officeDocument/2006/relationships/image" Target="../media/image-9-12.png"/><Relationship Id="rId16" Type="http://schemas.openxmlformats.org/officeDocument/2006/relationships/image" Target="../media/image-9-12.png"/><Relationship Id="rId17" Type="http://schemas.openxmlformats.org/officeDocument/2006/relationships/image" Target="../media/image-1-2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2" y="2028825"/>
            <a:ext cx="6857828" cy="37433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380" y="2364284"/>
            <a:ext cx="22892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DRAFT REVIEW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63380" y="2722924"/>
            <a:ext cx="6374348" cy="1347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Health Insurance</a:t>
            </a:r>
            <a:endParaRPr lang="en-US" sz="52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Market Study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63380" y="4269184"/>
            <a:ext cx="661980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Understanding adverse selection, premium</a:t>
            </a:r>
            <a:endParaRPr lang="en-US" sz="20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elasticity, consumer behaviour and insurer risk.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3380" y="5159573"/>
            <a:ext cx="6524462" cy="476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Focus: age and risk groups, pricing, plan selection, risk pooling and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competition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3380" y="5869484"/>
            <a:ext cx="412263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Team members: Sahithi A, Sahithi R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8677"/>
            <a:ext cx="9252711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Different risks create a market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7987" y="1190327"/>
            <a:ext cx="856643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Customers and insurers see different parts of the same risk.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04952" y="1952625"/>
            <a:ext cx="1400140" cy="76200"/>
          </a:xfrm>
          <a:prstGeom prst="rect">
            <a:avLst/>
          </a:prstGeom>
          <a:solidFill>
            <a:srgbClr val="A62C2B"/>
          </a:solidFill>
          <a:ln/>
        </p:spPr>
      </p:sp>
      <p:sp>
        <p:nvSpPr>
          <p:cNvPr id="5" name="Text 3"/>
          <p:cNvSpPr/>
          <p:nvPr/>
        </p:nvSpPr>
        <p:spPr>
          <a:xfrm>
            <a:off x="507987" y="2230438"/>
            <a:ext cx="15646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Customers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87" y="2735759"/>
            <a:ext cx="358676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People differ in health risk 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87" y="2983409"/>
            <a:ext cx="337980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may choose plans based 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87" y="3231059"/>
            <a:ext cx="403810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expected medical needs and price.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5568" y="1952625"/>
            <a:ext cx="2809805" cy="76200"/>
          </a:xfrm>
          <a:prstGeom prst="rect">
            <a:avLst/>
          </a:prstGeom>
          <a:solidFill>
            <a:srgbClr val="A62C2B"/>
          </a:solidFill>
          <a:ln/>
        </p:spPr>
      </p:sp>
      <p:sp>
        <p:nvSpPr>
          <p:cNvPr id="10" name="Text 8"/>
          <p:cNvSpPr/>
          <p:nvPr/>
        </p:nvSpPr>
        <p:spPr>
          <a:xfrm>
            <a:off x="3301719" y="2230438"/>
            <a:ext cx="7988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Risks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01719" y="2735759"/>
            <a:ext cx="319178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Future health is difficult 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01719" y="2983409"/>
            <a:ext cx="14524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observe.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6323" y="1952625"/>
            <a:ext cx="2809805" cy="76200"/>
          </a:xfrm>
          <a:prstGeom prst="rect">
            <a:avLst/>
          </a:prstGeom>
          <a:solidFill>
            <a:srgbClr val="A62C2B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48" y="2230438"/>
            <a:ext cx="181992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Plan choices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95848" y="2735759"/>
            <a:ext cx="384056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Higher-risk customers may claim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95848" y="2983409"/>
            <a:ext cx="115160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more.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86603" y="1952625"/>
            <a:ext cx="1400140" cy="76200"/>
          </a:xfrm>
          <a:prstGeom prst="rect">
            <a:avLst/>
          </a:prstGeom>
          <a:solidFill>
            <a:srgbClr val="A62C2B"/>
          </a:solidFill>
          <a:ln/>
        </p:spPr>
      </p:sp>
      <p:sp>
        <p:nvSpPr>
          <p:cNvPr id="18" name="Text 16"/>
          <p:cNvSpPr/>
          <p:nvPr/>
        </p:nvSpPr>
        <p:spPr>
          <a:xfrm>
            <a:off x="8889778" y="2230438"/>
            <a:ext cx="96021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Claims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89778" y="2735759"/>
            <a:ext cx="330191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Insurer risk changes as coverage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89778" y="2983409"/>
            <a:ext cx="279690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choices shape claims.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2" y="5591175"/>
            <a:ext cx="11182070" cy="7620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87182" y="5783263"/>
            <a:ext cx="9531409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Core chain: </a:t>
            </a:r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customers </a:t>
            </a:r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risks </a:t>
            </a:r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plan choices </a:t>
            </a:r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claims </a:t>
            </a:r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insurer risk</a:t>
            </a:r>
            <a:endParaRPr lang="en-US" sz="2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941" y="1751013"/>
            <a:ext cx="457189" cy="466725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9" y="1714599"/>
            <a:ext cx="530212" cy="5397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31552" y="1835467"/>
            <a:ext cx="23097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1</a:t>
            </a:r>
            <a:endParaRPr lang="en-US" sz="2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696" y="1751013"/>
            <a:ext cx="466713" cy="466725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284" y="1714599"/>
            <a:ext cx="539736" cy="5397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25482" y="1835467"/>
            <a:ext cx="23097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2</a:t>
            </a:r>
            <a:endParaRPr lang="en-US" sz="2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976" y="1751013"/>
            <a:ext cx="457189" cy="466725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5564" y="1714599"/>
            <a:ext cx="530212" cy="5397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619511" y="1835467"/>
            <a:ext cx="23097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3</a:t>
            </a:r>
            <a:endParaRPr lang="en-US" sz="22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2732" y="1751013"/>
            <a:ext cx="457189" cy="466725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6319" y="1714599"/>
            <a:ext cx="530212" cy="53975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413342" y="1835467"/>
            <a:ext cx="23097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4</a:t>
            </a:r>
            <a:endParaRPr lang="en-US" sz="2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0442"/>
            <a:ext cx="2029568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Adverse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7987" y="996692"/>
            <a:ext cx="3446376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selection links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87" y="1472942"/>
            <a:ext cx="3896124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expected risk to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7987" y="1949192"/>
            <a:ext cx="2277013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coverage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7987" y="2611735"/>
            <a:ext cx="4739859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People who expect higher medical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7987" y="2916535"/>
            <a:ext cx="392906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costs may be more likely 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7987" y="3221335"/>
            <a:ext cx="368935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choose greater insurance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987" y="3526135"/>
            <a:ext cx="179392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coverage.</a:t>
            </a:r>
            <a:endParaRPr lang="en-US" sz="1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2" y="5038725"/>
            <a:ext cx="3343191" cy="13144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1783" y="5206305"/>
            <a:ext cx="2923010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Research question: 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does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this create a problem for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insurers?</a:t>
            </a:r>
            <a:endParaRPr lang="en-US" sz="1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46" y="504825"/>
            <a:ext cx="1904952" cy="84772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946" y="504825"/>
            <a:ext cx="1904952" cy="842863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171946" y="1343025"/>
            <a:ext cx="1904952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15" name="Text 10"/>
          <p:cNvSpPr/>
          <p:nvPr/>
        </p:nvSpPr>
        <p:spPr>
          <a:xfrm>
            <a:off x="5333073" y="611485"/>
            <a:ext cx="131421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Group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3041" y="504825"/>
            <a:ext cx="323842" cy="847725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3041" y="504825"/>
            <a:ext cx="323842" cy="842863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11363041" y="1343025"/>
            <a:ext cx="323842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19" name="Shape 12"/>
          <p:cNvSpPr/>
          <p:nvPr/>
        </p:nvSpPr>
        <p:spPr>
          <a:xfrm>
            <a:off x="7076898" y="504825"/>
            <a:ext cx="1666833" cy="847725"/>
          </a:xfrm>
          <a:prstGeom prst="rect">
            <a:avLst/>
          </a:prstGeom>
          <a:solidFill>
            <a:srgbClr val="A62C2B"/>
          </a:solidFill>
          <a:ln/>
        </p:spPr>
      </p:sp>
      <p:sp>
        <p:nvSpPr>
          <p:cNvPr id="20" name="Shape 13"/>
          <p:cNvSpPr/>
          <p:nvPr/>
        </p:nvSpPr>
        <p:spPr>
          <a:xfrm>
            <a:off x="7076898" y="1343025"/>
            <a:ext cx="1666833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21" name="Text 14"/>
          <p:cNvSpPr/>
          <p:nvPr/>
        </p:nvSpPr>
        <p:spPr>
          <a:xfrm>
            <a:off x="7236438" y="611485"/>
            <a:ext cx="175960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Expected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7236438" y="916285"/>
            <a:ext cx="105159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risk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8743731" y="504825"/>
            <a:ext cx="2295468" cy="847725"/>
          </a:xfrm>
          <a:prstGeom prst="rect">
            <a:avLst/>
          </a:prstGeom>
          <a:solidFill>
            <a:srgbClr val="A62C2B"/>
          </a:solidFill>
          <a:ln/>
        </p:spPr>
      </p:sp>
      <p:sp>
        <p:nvSpPr>
          <p:cNvPr id="24" name="Shape 17"/>
          <p:cNvSpPr/>
          <p:nvPr/>
        </p:nvSpPr>
        <p:spPr>
          <a:xfrm>
            <a:off x="8743731" y="1343025"/>
            <a:ext cx="2295468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25" name="Text 18"/>
          <p:cNvSpPr/>
          <p:nvPr/>
        </p:nvSpPr>
        <p:spPr>
          <a:xfrm>
            <a:off x="8908133" y="611485"/>
            <a:ext cx="253606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Likely coverage</a:t>
            </a:r>
            <a:endParaRPr lang="en-US" sz="1700" dirty="0"/>
          </a:p>
        </p:txBody>
      </p:sp>
      <p:sp>
        <p:nvSpPr>
          <p:cNvPr id="26" name="Shape 19"/>
          <p:cNvSpPr/>
          <p:nvPr/>
        </p:nvSpPr>
        <p:spPr>
          <a:xfrm>
            <a:off x="11039199" y="504825"/>
            <a:ext cx="323842" cy="847725"/>
          </a:xfrm>
          <a:prstGeom prst="rect">
            <a:avLst/>
          </a:prstGeom>
          <a:solidFill>
            <a:srgbClr val="A62C2B"/>
          </a:solidFill>
          <a:ln/>
        </p:spPr>
      </p:sp>
      <p:sp>
        <p:nvSpPr>
          <p:cNvPr id="27" name="Shape 20"/>
          <p:cNvSpPr/>
          <p:nvPr/>
        </p:nvSpPr>
        <p:spPr>
          <a:xfrm>
            <a:off x="11039199" y="1343025"/>
            <a:ext cx="323842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28" name="Shape 21"/>
          <p:cNvSpPr/>
          <p:nvPr/>
        </p:nvSpPr>
        <p:spPr>
          <a:xfrm>
            <a:off x="5171946" y="1352550"/>
            <a:ext cx="1904952" cy="838200"/>
          </a:xfrm>
          <a:prstGeom prst="rect">
            <a:avLst/>
          </a:prstGeom>
          <a:solidFill>
            <a:srgbClr val="FBF8F4"/>
          </a:solidFill>
          <a:ln/>
        </p:spPr>
      </p:sp>
      <p:sp>
        <p:nvSpPr>
          <p:cNvPr id="29" name="Shape 22"/>
          <p:cNvSpPr/>
          <p:nvPr/>
        </p:nvSpPr>
        <p:spPr>
          <a:xfrm>
            <a:off x="5171946" y="2181225"/>
            <a:ext cx="1904952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30" name="Text 23"/>
          <p:cNvSpPr/>
          <p:nvPr/>
        </p:nvSpPr>
        <p:spPr>
          <a:xfrm>
            <a:off x="5333073" y="1434405"/>
            <a:ext cx="1221650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Young and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healthy</a:t>
            </a:r>
            <a:endParaRPr lang="en-US" sz="1700" dirty="0"/>
          </a:p>
        </p:txBody>
      </p:sp>
      <p:sp>
        <p:nvSpPr>
          <p:cNvPr id="31" name="Shape 24"/>
          <p:cNvSpPr/>
          <p:nvPr/>
        </p:nvSpPr>
        <p:spPr>
          <a:xfrm>
            <a:off x="7076898" y="1352550"/>
            <a:ext cx="1666833" cy="838200"/>
          </a:xfrm>
          <a:prstGeom prst="rect">
            <a:avLst/>
          </a:prstGeom>
          <a:solidFill>
            <a:srgbClr val="FBF8F4"/>
          </a:solidFill>
          <a:ln/>
        </p:spPr>
      </p:sp>
      <p:sp>
        <p:nvSpPr>
          <p:cNvPr id="32" name="Shape 25"/>
          <p:cNvSpPr/>
          <p:nvPr/>
        </p:nvSpPr>
        <p:spPr>
          <a:xfrm>
            <a:off x="7076898" y="2181225"/>
            <a:ext cx="1666833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33" name="Text 26"/>
          <p:cNvSpPr/>
          <p:nvPr/>
        </p:nvSpPr>
        <p:spPr>
          <a:xfrm>
            <a:off x="7236438" y="1434405"/>
            <a:ext cx="1587063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Lower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expected risk</a:t>
            </a:r>
            <a:endParaRPr lang="en-US" sz="1700" dirty="0"/>
          </a:p>
        </p:txBody>
      </p:sp>
      <p:sp>
        <p:nvSpPr>
          <p:cNvPr id="34" name="Shape 27"/>
          <p:cNvSpPr/>
          <p:nvPr/>
        </p:nvSpPr>
        <p:spPr>
          <a:xfrm>
            <a:off x="8743731" y="1352550"/>
            <a:ext cx="2295468" cy="838200"/>
          </a:xfrm>
          <a:prstGeom prst="rect">
            <a:avLst/>
          </a:prstGeom>
          <a:solidFill>
            <a:srgbClr val="FBF8F4"/>
          </a:solidFill>
          <a:ln/>
        </p:spPr>
      </p:sp>
      <p:sp>
        <p:nvSpPr>
          <p:cNvPr id="35" name="Shape 28"/>
          <p:cNvSpPr/>
          <p:nvPr/>
        </p:nvSpPr>
        <p:spPr>
          <a:xfrm>
            <a:off x="8743731" y="2181225"/>
            <a:ext cx="2295468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36" name="Text 29"/>
          <p:cNvSpPr/>
          <p:nvPr/>
        </p:nvSpPr>
        <p:spPr>
          <a:xfrm>
            <a:off x="8908133" y="1459210"/>
            <a:ext cx="185097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Basic plan</a:t>
            </a:r>
            <a:endParaRPr lang="en-US" sz="1700" dirty="0"/>
          </a:p>
        </p:txBody>
      </p:sp>
      <p:sp>
        <p:nvSpPr>
          <p:cNvPr id="37" name="Shape 30"/>
          <p:cNvSpPr/>
          <p:nvPr/>
        </p:nvSpPr>
        <p:spPr>
          <a:xfrm>
            <a:off x="11039199" y="1352550"/>
            <a:ext cx="323842" cy="838200"/>
          </a:xfrm>
          <a:prstGeom prst="rect">
            <a:avLst/>
          </a:prstGeom>
          <a:solidFill>
            <a:srgbClr val="FBF8F4"/>
          </a:solidFill>
          <a:ln/>
        </p:spPr>
      </p:sp>
      <p:sp>
        <p:nvSpPr>
          <p:cNvPr id="38" name="Shape 31"/>
          <p:cNvSpPr/>
          <p:nvPr/>
        </p:nvSpPr>
        <p:spPr>
          <a:xfrm>
            <a:off x="11039199" y="2181225"/>
            <a:ext cx="323842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39" name="Shape 32"/>
          <p:cNvSpPr/>
          <p:nvPr/>
        </p:nvSpPr>
        <p:spPr>
          <a:xfrm>
            <a:off x="11363041" y="1352550"/>
            <a:ext cx="323842" cy="838200"/>
          </a:xfrm>
          <a:prstGeom prst="rect">
            <a:avLst/>
          </a:prstGeom>
          <a:solidFill>
            <a:srgbClr val="FBF8F4"/>
          </a:solidFill>
          <a:ln/>
        </p:spPr>
      </p:sp>
      <p:sp>
        <p:nvSpPr>
          <p:cNvPr id="40" name="Shape 33"/>
          <p:cNvSpPr/>
          <p:nvPr/>
        </p:nvSpPr>
        <p:spPr>
          <a:xfrm>
            <a:off x="11363041" y="2181225"/>
            <a:ext cx="323842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41" name="Shape 34"/>
          <p:cNvSpPr/>
          <p:nvPr/>
        </p:nvSpPr>
        <p:spPr>
          <a:xfrm>
            <a:off x="5171946" y="3028950"/>
            <a:ext cx="1904952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42" name="Text 35"/>
          <p:cNvSpPr/>
          <p:nvPr/>
        </p:nvSpPr>
        <p:spPr>
          <a:xfrm>
            <a:off x="5333073" y="2297410"/>
            <a:ext cx="209068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Middle-aged</a:t>
            </a:r>
            <a:endParaRPr lang="en-US" sz="1700" dirty="0"/>
          </a:p>
        </p:txBody>
      </p:sp>
      <p:sp>
        <p:nvSpPr>
          <p:cNvPr id="43" name="Shape 36"/>
          <p:cNvSpPr/>
          <p:nvPr/>
        </p:nvSpPr>
        <p:spPr>
          <a:xfrm>
            <a:off x="7076898" y="3028950"/>
            <a:ext cx="1666833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44" name="Text 37"/>
          <p:cNvSpPr/>
          <p:nvPr/>
        </p:nvSpPr>
        <p:spPr>
          <a:xfrm>
            <a:off x="7236438" y="2297410"/>
            <a:ext cx="161117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Medium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7236438" y="2602210"/>
            <a:ext cx="2250622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expected risk</a:t>
            </a:r>
            <a:endParaRPr lang="en-US" sz="1700" dirty="0"/>
          </a:p>
        </p:txBody>
      </p:sp>
      <p:sp>
        <p:nvSpPr>
          <p:cNvPr id="46" name="Shape 39"/>
          <p:cNvSpPr/>
          <p:nvPr/>
        </p:nvSpPr>
        <p:spPr>
          <a:xfrm>
            <a:off x="8743731" y="3028950"/>
            <a:ext cx="2295468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47" name="Text 40"/>
          <p:cNvSpPr/>
          <p:nvPr/>
        </p:nvSpPr>
        <p:spPr>
          <a:xfrm>
            <a:off x="8908133" y="2297410"/>
            <a:ext cx="227344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Standard plan</a:t>
            </a:r>
            <a:endParaRPr lang="en-US" sz="1700" dirty="0"/>
          </a:p>
        </p:txBody>
      </p:sp>
      <p:sp>
        <p:nvSpPr>
          <p:cNvPr id="48" name="Shape 41"/>
          <p:cNvSpPr/>
          <p:nvPr/>
        </p:nvSpPr>
        <p:spPr>
          <a:xfrm>
            <a:off x="11039199" y="3028950"/>
            <a:ext cx="323842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49" name="Shape 42"/>
          <p:cNvSpPr/>
          <p:nvPr/>
        </p:nvSpPr>
        <p:spPr>
          <a:xfrm>
            <a:off x="11363041" y="3028950"/>
            <a:ext cx="323842" cy="9525"/>
          </a:xfrm>
          <a:prstGeom prst="rect">
            <a:avLst/>
          </a:prstGeom>
          <a:solidFill>
            <a:srgbClr val="C9BEB1"/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1946" y="3038475"/>
            <a:ext cx="1904952" cy="828675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333073" y="3145135"/>
            <a:ext cx="153130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Older or</a:t>
            </a:r>
            <a:endParaRPr lang="en-US" sz="1700" dirty="0"/>
          </a:p>
        </p:txBody>
      </p:sp>
      <p:sp>
        <p:nvSpPr>
          <p:cNvPr id="52" name="Text 44"/>
          <p:cNvSpPr/>
          <p:nvPr/>
        </p:nvSpPr>
        <p:spPr>
          <a:xfrm>
            <a:off x="5333073" y="3440410"/>
            <a:ext cx="185097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higher-risk</a:t>
            </a:r>
            <a:endParaRPr lang="en-US" sz="1700" dirty="0"/>
          </a:p>
        </p:txBody>
      </p:sp>
      <p:sp>
        <p:nvSpPr>
          <p:cNvPr id="53" name="Shape 45"/>
          <p:cNvSpPr/>
          <p:nvPr/>
        </p:nvSpPr>
        <p:spPr>
          <a:xfrm>
            <a:off x="7076898" y="3038475"/>
            <a:ext cx="1666833" cy="828675"/>
          </a:xfrm>
          <a:prstGeom prst="rect">
            <a:avLst/>
          </a:prstGeom>
          <a:solidFill>
            <a:srgbClr val="FBF8F4"/>
          </a:solidFill>
          <a:ln/>
        </p:spPr>
      </p:sp>
      <p:sp>
        <p:nvSpPr>
          <p:cNvPr id="54" name="Text 46"/>
          <p:cNvSpPr/>
          <p:nvPr/>
        </p:nvSpPr>
        <p:spPr>
          <a:xfrm>
            <a:off x="7236438" y="3145135"/>
            <a:ext cx="137136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Higher</a:t>
            </a:r>
            <a:endParaRPr lang="en-US" sz="1700" dirty="0"/>
          </a:p>
        </p:txBody>
      </p:sp>
      <p:sp>
        <p:nvSpPr>
          <p:cNvPr id="55" name="Text 47"/>
          <p:cNvSpPr/>
          <p:nvPr/>
        </p:nvSpPr>
        <p:spPr>
          <a:xfrm>
            <a:off x="7236438" y="3440410"/>
            <a:ext cx="2250622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expected risk</a:t>
            </a:r>
            <a:endParaRPr lang="en-US" sz="1700" dirty="0"/>
          </a:p>
        </p:txBody>
      </p:sp>
      <p:sp>
        <p:nvSpPr>
          <p:cNvPr id="56" name="Shape 48"/>
          <p:cNvSpPr/>
          <p:nvPr/>
        </p:nvSpPr>
        <p:spPr>
          <a:xfrm>
            <a:off x="8743731" y="3038475"/>
            <a:ext cx="2295468" cy="828675"/>
          </a:xfrm>
          <a:prstGeom prst="rect">
            <a:avLst/>
          </a:prstGeom>
          <a:solidFill>
            <a:srgbClr val="FBF8F4"/>
          </a:solidFill>
          <a:ln/>
        </p:spPr>
      </p:sp>
      <p:sp>
        <p:nvSpPr>
          <p:cNvPr id="57" name="Text 49"/>
          <p:cNvSpPr/>
          <p:nvPr/>
        </p:nvSpPr>
        <p:spPr>
          <a:xfrm>
            <a:off x="8908133" y="3145135"/>
            <a:ext cx="30613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Comprehensive plan</a:t>
            </a:r>
            <a:endParaRPr lang="en-US" sz="1700" dirty="0"/>
          </a:p>
        </p:txBody>
      </p:sp>
      <p:sp>
        <p:nvSpPr>
          <p:cNvPr id="58" name="Shape 50"/>
          <p:cNvSpPr/>
          <p:nvPr/>
        </p:nvSpPr>
        <p:spPr>
          <a:xfrm>
            <a:off x="11039199" y="3038475"/>
            <a:ext cx="323842" cy="828675"/>
          </a:xfrm>
          <a:prstGeom prst="rect">
            <a:avLst/>
          </a:prstGeom>
          <a:solidFill>
            <a:srgbClr val="FBF8F4"/>
          </a:solidFill>
          <a:ln/>
        </p:spPr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63041" y="3038475"/>
            <a:ext cx="323842" cy="828675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5171152" y="4059734"/>
            <a:ext cx="59278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Planned comparison: expected risk and plan selection</a:t>
            </a:r>
            <a:endParaRPr lang="en-US" sz="1400" dirty="0"/>
          </a:p>
        </p:txBody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8677"/>
            <a:ext cx="5384765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Why this topic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7987" y="1437977"/>
            <a:ext cx="660413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Health insurance affects a large number of people.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7987" y="2663130"/>
            <a:ext cx="6382781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Medical costs are unpredictable and customers have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different risk levels.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7987" y="4240510"/>
            <a:ext cx="71377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Insurers must price risk carefully and manage claims.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7987" y="5463480"/>
            <a:ext cx="6108746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Customer behaviour can affect the sustainability of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insurance plans.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8799" y="-1191"/>
            <a:ext cx="5152896" cy="68604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4812" y="2214463"/>
            <a:ext cx="5724382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10" name="Shape 6"/>
          <p:cNvSpPr/>
          <p:nvPr/>
        </p:nvSpPr>
        <p:spPr>
          <a:xfrm>
            <a:off x="504812" y="3767038"/>
            <a:ext cx="5724382" cy="9525"/>
          </a:xfrm>
          <a:prstGeom prst="rect">
            <a:avLst/>
          </a:prstGeom>
          <a:solidFill>
            <a:srgbClr val="C9BEB1"/>
          </a:solidFill>
          <a:ln/>
        </p:spPr>
      </p:sp>
      <p:sp>
        <p:nvSpPr>
          <p:cNvPr id="11" name="Shape 7"/>
          <p:cNvSpPr/>
          <p:nvPr/>
        </p:nvSpPr>
        <p:spPr>
          <a:xfrm>
            <a:off x="504812" y="5024338"/>
            <a:ext cx="5724382" cy="9525"/>
          </a:xfrm>
          <a:prstGeom prst="rect">
            <a:avLst/>
          </a:prstGeom>
          <a:solidFill>
            <a:srgbClr val="C9BEB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8677"/>
            <a:ext cx="6913886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What we want to understand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7987" y="1190327"/>
            <a:ext cx="635232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Six questions organize the planned analysis.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2" y="1704975"/>
            <a:ext cx="3647984" cy="22479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56" y="1952625"/>
            <a:ext cx="447664" cy="44767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07" y="1920875"/>
            <a:ext cx="511162" cy="5111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05547" y="2030214"/>
            <a:ext cx="2045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1396667" y="2049760"/>
            <a:ext cx="341532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How age, risk and price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396667" y="2354560"/>
            <a:ext cx="306131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affect plan selection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192" y="1704975"/>
            <a:ext cx="3581310" cy="2247900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836" y="1952625"/>
            <a:ext cx="447664" cy="447675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087" y="1920875"/>
            <a:ext cx="511162" cy="51117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706919" y="2030214"/>
            <a:ext cx="2045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6"/>
          <p:cNvSpPr/>
          <p:nvPr/>
        </p:nvSpPr>
        <p:spPr>
          <a:xfrm>
            <a:off x="5198039" y="2049760"/>
            <a:ext cx="338099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How premium changes</a:t>
            </a:r>
            <a:endParaRPr lang="en-US" sz="1700" dirty="0"/>
          </a:p>
        </p:txBody>
      </p:sp>
      <p:sp>
        <p:nvSpPr>
          <p:cNvPr id="15" name="Text 7"/>
          <p:cNvSpPr/>
          <p:nvPr/>
        </p:nvSpPr>
        <p:spPr>
          <a:xfrm>
            <a:off x="5198039" y="2354560"/>
            <a:ext cx="356374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affect customer choices</a:t>
            </a:r>
            <a:endParaRPr lang="en-US" sz="17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8899" y="1704975"/>
            <a:ext cx="3647984" cy="2247900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543" y="1952625"/>
            <a:ext cx="438139" cy="447675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4793" y="1920875"/>
            <a:ext cx="501637" cy="511175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8432192" y="2030214"/>
            <a:ext cx="2045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9"/>
          <p:cNvSpPr/>
          <p:nvPr/>
        </p:nvSpPr>
        <p:spPr>
          <a:xfrm>
            <a:off x="8923213" y="2049760"/>
            <a:ext cx="324397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How insurers manage</a:t>
            </a:r>
            <a:endParaRPr lang="en-US" sz="1700" dirty="0"/>
          </a:p>
        </p:txBody>
      </p:sp>
      <p:sp>
        <p:nvSpPr>
          <p:cNvPr id="21" name="Text 10"/>
          <p:cNvSpPr/>
          <p:nvPr/>
        </p:nvSpPr>
        <p:spPr>
          <a:xfrm>
            <a:off x="8923213" y="2354560"/>
            <a:ext cx="322105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different levels of risk</a:t>
            </a:r>
            <a:endParaRPr lang="en-US" sz="17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12" y="4105275"/>
            <a:ext cx="3647984" cy="2247900"/>
          </a:xfrm>
          <a:prstGeom prst="rect">
            <a:avLst/>
          </a:prstGeom>
        </p:spPr>
      </p:pic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56" y="4352925"/>
            <a:ext cx="447664" cy="438150"/>
          </a:xfrm>
          <a:prstGeom prst="rect">
            <a:avLst/>
          </a:prstGeom>
        </p:spPr>
      </p:pic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707" y="4321175"/>
            <a:ext cx="511162" cy="50165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905547" y="4430514"/>
            <a:ext cx="2045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12"/>
          <p:cNvSpPr/>
          <p:nvPr/>
        </p:nvSpPr>
        <p:spPr>
          <a:xfrm>
            <a:off x="1396667" y="4450060"/>
            <a:ext cx="220488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How insurers</a:t>
            </a:r>
            <a:endParaRPr lang="en-US" sz="1700" dirty="0"/>
          </a:p>
        </p:txBody>
      </p:sp>
      <p:sp>
        <p:nvSpPr>
          <p:cNvPr id="27" name="Text 13"/>
          <p:cNvSpPr/>
          <p:nvPr/>
        </p:nvSpPr>
        <p:spPr>
          <a:xfrm>
            <a:off x="1396667" y="4754860"/>
            <a:ext cx="330112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differentiate plans and</a:t>
            </a:r>
            <a:endParaRPr lang="en-US" sz="1700" dirty="0"/>
          </a:p>
        </p:txBody>
      </p:sp>
      <p:sp>
        <p:nvSpPr>
          <p:cNvPr id="28" name="Text 14"/>
          <p:cNvSpPr/>
          <p:nvPr/>
        </p:nvSpPr>
        <p:spPr>
          <a:xfrm>
            <a:off x="1396667" y="5050135"/>
            <a:ext cx="134854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prices</a:t>
            </a:r>
            <a:endParaRPr lang="en-US" sz="17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05192" y="4105275"/>
            <a:ext cx="3581310" cy="2247900"/>
          </a:xfrm>
          <a:prstGeom prst="rect">
            <a:avLst/>
          </a:prstGeom>
        </p:spPr>
      </p:pic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52836" y="4352925"/>
            <a:ext cx="447664" cy="438150"/>
          </a:xfrm>
          <a:prstGeom prst="rect">
            <a:avLst/>
          </a:prstGeom>
        </p:spPr>
      </p:pic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087" y="4321175"/>
            <a:ext cx="511162" cy="501650"/>
          </a:xfrm>
          <a:prstGeom prst="rect">
            <a:avLst/>
          </a:prstGeom>
        </p:spPr>
      </p:pic>
      <p:sp>
        <p:nvSpPr>
          <p:cNvPr id="32" name="Text 15"/>
          <p:cNvSpPr/>
          <p:nvPr/>
        </p:nvSpPr>
        <p:spPr>
          <a:xfrm>
            <a:off x="4706919" y="4430514"/>
            <a:ext cx="2045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16"/>
          <p:cNvSpPr/>
          <p:nvPr/>
        </p:nvSpPr>
        <p:spPr>
          <a:xfrm>
            <a:off x="5198039" y="4450060"/>
            <a:ext cx="336958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How adverse selection</a:t>
            </a:r>
            <a:endParaRPr lang="en-US" sz="1700" dirty="0"/>
          </a:p>
        </p:txBody>
      </p:sp>
      <p:sp>
        <p:nvSpPr>
          <p:cNvPr id="34" name="Text 17"/>
          <p:cNvSpPr/>
          <p:nvPr/>
        </p:nvSpPr>
        <p:spPr>
          <a:xfrm>
            <a:off x="5198039" y="4754860"/>
            <a:ext cx="348368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and moral hazard affect</a:t>
            </a:r>
            <a:endParaRPr lang="en-US" sz="1700" dirty="0"/>
          </a:p>
        </p:txBody>
      </p:sp>
      <p:sp>
        <p:nvSpPr>
          <p:cNvPr id="35" name="Text 18"/>
          <p:cNvSpPr/>
          <p:nvPr/>
        </p:nvSpPr>
        <p:spPr>
          <a:xfrm>
            <a:off x="5198039" y="5050135"/>
            <a:ext cx="191953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the market</a:t>
            </a:r>
            <a:endParaRPr lang="en-US" sz="1700" dirty="0"/>
          </a:p>
        </p:txBody>
      </p:sp>
      <p:pic>
        <p:nvPicPr>
          <p:cNvPr id="3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8899" y="4105275"/>
            <a:ext cx="3647984" cy="2247900"/>
          </a:xfrm>
          <a:prstGeom prst="rect">
            <a:avLst/>
          </a:prstGeom>
        </p:spPr>
      </p:pic>
      <p:pic>
        <p:nvPicPr>
          <p:cNvPr id="3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6543" y="4352925"/>
            <a:ext cx="438139" cy="438150"/>
          </a:xfrm>
          <a:prstGeom prst="rect">
            <a:avLst/>
          </a:prstGeom>
        </p:spPr>
      </p:pic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54793" y="4321175"/>
            <a:ext cx="501637" cy="501650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8432192" y="4430514"/>
            <a:ext cx="2045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6</a:t>
            </a:r>
            <a:endParaRPr lang="en-US" sz="2000" dirty="0"/>
          </a:p>
        </p:txBody>
      </p:sp>
      <p:sp>
        <p:nvSpPr>
          <p:cNvPr id="40" name="Text 20"/>
          <p:cNvSpPr/>
          <p:nvPr/>
        </p:nvSpPr>
        <p:spPr>
          <a:xfrm>
            <a:off x="8923213" y="4450060"/>
            <a:ext cx="326848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How Python can support</a:t>
            </a:r>
            <a:endParaRPr lang="en-US" sz="1700" dirty="0"/>
          </a:p>
        </p:txBody>
      </p:sp>
      <p:sp>
        <p:nvSpPr>
          <p:cNvPr id="41" name="Text 21"/>
          <p:cNvSpPr/>
          <p:nvPr/>
        </p:nvSpPr>
        <p:spPr>
          <a:xfrm>
            <a:off x="8923213" y="4754860"/>
            <a:ext cx="326848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evidence-based findings</a:t>
            </a:r>
            <a:endParaRPr lang="en-US" sz="1700" dirty="0"/>
          </a:p>
        </p:txBody>
      </p:sp>
      <p:pic>
        <p:nvPicPr>
          <p:cNvPr id="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8677"/>
            <a:ext cx="8555617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One project connects three subjects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7987" y="1190327"/>
            <a:ext cx="870523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Each subject answers a different part of the same market question.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2" y="1733550"/>
            <a:ext cx="3524162" cy="46196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3407" y="1962150"/>
            <a:ext cx="438139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736582" y="2487612"/>
            <a:ext cx="24111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Economics (CO1)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6582" y="2992735"/>
            <a:ext cx="3575159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Adverse selection, moral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6582" y="3297535"/>
            <a:ext cx="435162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hazard, price elasticity and risk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6582" y="3602335"/>
            <a:ext cx="151989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pooling.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767" y="1733550"/>
            <a:ext cx="3524162" cy="461962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62361" y="1962150"/>
            <a:ext cx="428614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8"/>
          <p:cNvSpPr/>
          <p:nvPr/>
        </p:nvSpPr>
        <p:spPr>
          <a:xfrm>
            <a:off x="4563155" y="2487612"/>
            <a:ext cx="32036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Business Environment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63155" y="2820988"/>
            <a:ext cx="7452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(CO2)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63155" y="3326110"/>
            <a:ext cx="330112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Industry, competition,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63155" y="3601839"/>
            <a:ext cx="2569106" cy="591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regulation and market</a:t>
            </a:r>
            <a:endParaRPr lang="en-US" sz="17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structure.</a:t>
            </a:r>
            <a:endParaRPr lang="en-US" sz="1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721" y="1733550"/>
            <a:ext cx="3524162" cy="461962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391315" y="1962150"/>
            <a:ext cx="428614" cy="4286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3"/>
          <p:cNvSpPr/>
          <p:nvPr/>
        </p:nvSpPr>
        <p:spPr>
          <a:xfrm>
            <a:off x="8390124" y="2487612"/>
            <a:ext cx="18334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Python (CO3)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390124" y="2992735"/>
            <a:ext cx="380157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Data cleaning, analysis and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90124" y="3297535"/>
            <a:ext cx="217075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visualisation.</a:t>
            </a:r>
            <a:endParaRPr lang="en-US" sz="17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0442"/>
            <a:ext cx="10057752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Four economics concepts guide the study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2" y="1200150"/>
            <a:ext cx="5438639" cy="2419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6582" y="1402259"/>
            <a:ext cx="8788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6582" y="1697038"/>
            <a:ext cx="21020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Price elasticity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6582" y="2202160"/>
            <a:ext cx="626987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If premiums rise, do customers change plans?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244" y="1200150"/>
            <a:ext cx="5438639" cy="24193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76838" y="1402259"/>
            <a:ext cx="8788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76838" y="1697038"/>
            <a:ext cx="25587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Adverse selection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76838" y="2177355"/>
            <a:ext cx="5657708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Are higher-risk customers more likely to choose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greater coverage?</a:t>
            </a:r>
            <a:endParaRPr lang="en-US" sz="17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2" y="3924300"/>
            <a:ext cx="5438639" cy="2428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6582" y="4126409"/>
            <a:ext cx="8788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36582" y="4430713"/>
            <a:ext cx="19140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Moral hazard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36582" y="4935835"/>
            <a:ext cx="654400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Does behaviour or healthcare usage change after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36582" y="5231110"/>
            <a:ext cx="194225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insurance?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3924300"/>
            <a:ext cx="5438639" cy="2428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76838" y="4126409"/>
            <a:ext cx="8788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476838" y="4430713"/>
            <a:ext cx="171247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Risk pooling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476838" y="4935835"/>
            <a:ext cx="571485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How does combining many customers help manage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476838" y="5231110"/>
            <a:ext cx="212501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uncertainty?</a:t>
            </a:r>
            <a:endParaRPr lang="en-US" sz="17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8677"/>
            <a:ext cx="10467019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Insurance choices sit inside a wider market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7987" y="1190327"/>
            <a:ext cx="928743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Plan selection connects customers, insurers, competition and regulation.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12" y="1733550"/>
            <a:ext cx="2571686" cy="461962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07" y="1962150"/>
            <a:ext cx="781030" cy="7810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95328" y="2124075"/>
            <a:ext cx="457189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>
            <a:off x="736582" y="2944813"/>
            <a:ext cx="15646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Customers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36582" y="3449935"/>
            <a:ext cx="294712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Age, income, health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36582" y="3745210"/>
            <a:ext cx="315269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risk and preferences.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290" y="1733550"/>
            <a:ext cx="2562161" cy="461962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885" y="1962150"/>
            <a:ext cx="781030" cy="78105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771806" y="2124075"/>
            <a:ext cx="457189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7"/>
          <p:cNvSpPr/>
          <p:nvPr/>
        </p:nvSpPr>
        <p:spPr>
          <a:xfrm>
            <a:off x="3606511" y="2944813"/>
            <a:ext cx="12959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Insurers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3606511" y="3449935"/>
            <a:ext cx="314118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Premiums, coverage,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606511" y="3745210"/>
            <a:ext cx="242186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claims and risk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3606511" y="4050010"/>
            <a:ext cx="225062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management.</a:t>
            </a:r>
            <a:endParaRPr lang="en-US" sz="17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1733550"/>
            <a:ext cx="2562161" cy="4619625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838" y="1962150"/>
            <a:ext cx="781030" cy="7810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638759" y="2124075"/>
            <a:ext cx="457189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2"/>
          <p:cNvSpPr/>
          <p:nvPr/>
        </p:nvSpPr>
        <p:spPr>
          <a:xfrm>
            <a:off x="6476838" y="2944813"/>
            <a:ext cx="169907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Competition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6476838" y="3449935"/>
            <a:ext cx="242186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Different plans,</a:t>
            </a:r>
            <a:endParaRPr lang="en-US" sz="1700" dirty="0"/>
          </a:p>
        </p:txBody>
      </p:sp>
      <p:sp>
        <p:nvSpPr>
          <p:cNvPr id="22" name="Text 14"/>
          <p:cNvSpPr/>
          <p:nvPr/>
        </p:nvSpPr>
        <p:spPr>
          <a:xfrm>
            <a:off x="6476838" y="3745210"/>
            <a:ext cx="296994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prices and benefits.</a:t>
            </a:r>
            <a:endParaRPr lang="en-US" sz="17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5197" y="1733550"/>
            <a:ext cx="2571686" cy="4619625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3791" y="1962150"/>
            <a:ext cx="781030" cy="78105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05712" y="2124075"/>
            <a:ext cx="457189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16"/>
          <p:cNvSpPr/>
          <p:nvPr/>
        </p:nvSpPr>
        <p:spPr>
          <a:xfrm>
            <a:off x="9346966" y="2899073"/>
            <a:ext cx="228038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Government and</a:t>
            </a:r>
            <a:endParaRPr lang="en-US" sz="20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regulation</a:t>
            </a:r>
            <a:endParaRPr lang="en-US" sz="2000" dirty="0"/>
          </a:p>
        </p:txBody>
      </p:sp>
      <p:sp>
        <p:nvSpPr>
          <p:cNvPr id="27" name="Text 17"/>
          <p:cNvSpPr/>
          <p:nvPr/>
        </p:nvSpPr>
        <p:spPr>
          <a:xfrm>
            <a:off x="9346966" y="3773785"/>
            <a:ext cx="2421869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Rules affecting</a:t>
            </a:r>
            <a:endParaRPr lang="en-US" sz="1700" dirty="0"/>
          </a:p>
        </p:txBody>
      </p:sp>
      <p:sp>
        <p:nvSpPr>
          <p:cNvPr id="28" name="Text 18"/>
          <p:cNvSpPr/>
          <p:nvPr/>
        </p:nvSpPr>
        <p:spPr>
          <a:xfrm>
            <a:off x="9346966" y="4053780"/>
            <a:ext cx="1438537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insurers and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customers.</a:t>
            </a:r>
            <a:endParaRPr lang="en-US" sz="17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20442"/>
            <a:ext cx="6369684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Python turns raw data into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7987" y="996692"/>
            <a:ext cx="2052090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patterns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87" y="1668760"/>
            <a:ext cx="6555318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The workflow moves from collection to evidence.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62" y="2190750"/>
            <a:ext cx="447664" cy="4381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13" y="2159000"/>
            <a:ext cx="511162" cy="5016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6953" y="2268339"/>
            <a:ext cx="2045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193472" y="2287885"/>
            <a:ext cx="203363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Collect data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62" y="2819400"/>
            <a:ext cx="447664" cy="4476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3" y="2787650"/>
            <a:ext cx="511162" cy="5111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6953" y="2896989"/>
            <a:ext cx="2045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1193472" y="2916535"/>
            <a:ext cx="188520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Clean data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62" y="3457575"/>
            <a:ext cx="447664" cy="4476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13" y="3425825"/>
            <a:ext cx="511162" cy="51117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6953" y="3535164"/>
            <a:ext cx="2045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8"/>
          <p:cNvSpPr/>
          <p:nvPr/>
        </p:nvSpPr>
        <p:spPr>
          <a:xfrm>
            <a:off x="1193472" y="3554710"/>
            <a:ext cx="218196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Analyse data</a:t>
            </a:r>
            <a:endParaRPr lang="en-US" sz="17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62" y="4095750"/>
            <a:ext cx="447664" cy="43815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13" y="4064000"/>
            <a:ext cx="511162" cy="50165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76953" y="4173339"/>
            <a:ext cx="2045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0"/>
          <p:cNvSpPr/>
          <p:nvPr/>
        </p:nvSpPr>
        <p:spPr>
          <a:xfrm>
            <a:off x="1193472" y="4192885"/>
            <a:ext cx="230777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Create graphs</a:t>
            </a:r>
            <a:endParaRPr lang="en-US" sz="17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62" y="4724400"/>
            <a:ext cx="447664" cy="44767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113" y="4692650"/>
            <a:ext cx="511162" cy="511175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676953" y="4801989"/>
            <a:ext cx="2045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12"/>
          <p:cNvSpPr/>
          <p:nvPr/>
        </p:nvSpPr>
        <p:spPr>
          <a:xfrm>
            <a:off x="1193472" y="4821535"/>
            <a:ext cx="221629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Find patterns</a:t>
            </a:r>
            <a:endParaRPr lang="en-US" sz="17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8839" y="0"/>
            <a:ext cx="4752856" cy="68580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944743" y="476548"/>
            <a:ext cx="299156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Planned analysis</a:t>
            </a:r>
            <a:endParaRPr lang="en-US" sz="1400" dirty="0"/>
          </a:p>
        </p:txBody>
      </p:sp>
      <p:sp>
        <p:nvSpPr>
          <p:cNvPr id="27" name="Text 14"/>
          <p:cNvSpPr/>
          <p:nvPr/>
        </p:nvSpPr>
        <p:spPr>
          <a:xfrm>
            <a:off x="7944743" y="726777"/>
            <a:ext cx="281774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Patterns to examine</a:t>
            </a:r>
            <a:endParaRPr lang="en-US" sz="200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1275" y="1400175"/>
            <a:ext cx="76198" cy="762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8290015" y="1287760"/>
            <a:ext cx="39016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Average premium by age group</a:t>
            </a:r>
            <a:endParaRPr lang="en-US" sz="170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1275" y="1752600"/>
            <a:ext cx="76198" cy="76200"/>
          </a:xfrm>
          <a:prstGeom prst="rect">
            <a:avLst/>
          </a:prstGeom>
        </p:spPr>
      </p:pic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91275" y="2114550"/>
            <a:ext cx="76198" cy="76200"/>
          </a:xfrm>
          <a:prstGeom prst="rect">
            <a:avLst/>
          </a:prstGeom>
        </p:spPr>
      </p:pic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91275" y="2466975"/>
            <a:ext cx="76198" cy="76200"/>
          </a:xfrm>
          <a:prstGeom prst="rect">
            <a:avLst/>
          </a:prstGeom>
        </p:spPr>
      </p:pic>
      <p:pic>
        <p:nvPicPr>
          <p:cNvPr id="3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91275" y="2819400"/>
            <a:ext cx="76198" cy="76200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>
            <a:off x="8290015" y="1611610"/>
            <a:ext cx="3642328" cy="1407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Premium versus coverage</a:t>
            </a:r>
            <a:endParaRPr lang="en-US" sz="17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Plan choice by age group</a:t>
            </a:r>
            <a:endParaRPr lang="en-US" sz="17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Risk group versus premium</a:t>
            </a:r>
            <a:endParaRPr lang="en-US" sz="17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Consumer preference patterns</a:t>
            </a:r>
            <a:endParaRPr lang="en-US" sz="1700" dirty="0"/>
          </a:p>
        </p:txBody>
      </p:sp>
      <p:pic>
        <p:nvPicPr>
          <p:cNvPr id="3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41907" y="6343650"/>
            <a:ext cx="1754441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99042" y="0"/>
            <a:ext cx="5892653" cy="6858000"/>
          </a:xfrm>
          <a:prstGeom prst="rect">
            <a:avLst/>
          </a:prstGeom>
          <a:solidFill>
            <a:srgbClr val="FBF8F4"/>
          </a:solidFill>
          <a:ln/>
        </p:spPr>
      </p:sp>
      <p:sp>
        <p:nvSpPr>
          <p:cNvPr id="3" name="Text 1"/>
          <p:cNvSpPr/>
          <p:nvPr/>
        </p:nvSpPr>
        <p:spPr>
          <a:xfrm>
            <a:off x="507888" y="522823"/>
            <a:ext cx="3912891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We will combine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888" y="912713"/>
            <a:ext cx="5356488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primary and secondary</a:t>
            </a:r>
            <a:endParaRPr lang="en-US" sz="34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data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7888" y="2108101"/>
            <a:ext cx="5449652" cy="591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Survey evidence shows consumer behaviour;</a:t>
            </a:r>
            <a:endParaRPr lang="en-US" sz="17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market evidence provides industry context.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7888" y="3035201"/>
            <a:ext cx="187885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Primary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888" y="3378101"/>
            <a:ext cx="5769426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Consumer survey 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on age group, preferred plan,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premium willingness, coverage preference, price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sensitivity and expected healthcare needs.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7888" y="4965601"/>
            <a:ext cx="579115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Secondary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888" y="5310485"/>
            <a:ext cx="5744721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Insurer websites, public reports, government or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industry sources, and published datasets or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research.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56132" y="482501"/>
            <a:ext cx="207629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Evidence 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56132" y="2233831"/>
            <a:ext cx="4436654" cy="7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Two lenses.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756132" y="2906931"/>
            <a:ext cx="4195955" cy="7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One market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756132" y="3592731"/>
            <a:ext cx="3301620" cy="79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00000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question.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756132" y="5714901"/>
            <a:ext cx="5381490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Consumer behaviour and industry context will be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analysed together.</a:t>
            </a:r>
            <a:endParaRPr lang="en-US" sz="1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442" y="6349802"/>
            <a:ext cx="1754342" cy="419001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07987" y="4648200"/>
            <a:ext cx="4933827" cy="9525"/>
          </a:xfrm>
          <a:prstGeom prst="rect">
            <a:avLst/>
          </a:prstGeom>
          <a:solidFill>
            <a:srgbClr val="C9BEB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36" y="459423"/>
            <a:ext cx="10045449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Our Project Methodology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60343" y="1041400"/>
            <a:ext cx="1014704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 transparent path from research question to market insight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7987" y="1841500"/>
            <a:ext cx="5206870" cy="939800"/>
          </a:xfrm>
          <a:prstGeom prst="roundRect">
            <a:avLst>
              <a:gd name="adj" fmla="val 3649"/>
            </a:avLst>
          </a:prstGeom>
          <a:solidFill>
            <a:srgbClr val="EFE7DF"/>
          </a:solidFill>
          <a:ln/>
        </p:spPr>
      </p:sp>
      <p:sp>
        <p:nvSpPr>
          <p:cNvPr id="5" name="Text 3"/>
          <p:cNvSpPr/>
          <p:nvPr/>
        </p:nvSpPr>
        <p:spPr>
          <a:xfrm>
            <a:off x="844529" y="1981200"/>
            <a:ext cx="45845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01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Define the problem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02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Collect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76838" y="1841500"/>
            <a:ext cx="5206870" cy="939800"/>
          </a:xfrm>
          <a:prstGeom prst="roundRect">
            <a:avLst>
              <a:gd name="adj" fmla="val 3649"/>
            </a:avLst>
          </a:prstGeom>
          <a:solidFill>
            <a:srgbClr val="EFE7DF"/>
          </a:solidFill>
          <a:ln/>
        </p:spPr>
      </p:sp>
      <p:sp>
        <p:nvSpPr>
          <p:cNvPr id="7" name="Text 5"/>
          <p:cNvSpPr/>
          <p:nvPr/>
        </p:nvSpPr>
        <p:spPr>
          <a:xfrm>
            <a:off x="6813380" y="1981200"/>
            <a:ext cx="45845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03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Clean the data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04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Analyse the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7987" y="3111500"/>
            <a:ext cx="5206870" cy="939800"/>
          </a:xfrm>
          <a:prstGeom prst="roundRect">
            <a:avLst>
              <a:gd name="adj" fmla="val 3649"/>
            </a:avLst>
          </a:prstGeom>
          <a:solidFill>
            <a:srgbClr val="EFE7DF"/>
          </a:solidFill>
          <a:ln/>
        </p:spPr>
      </p:sp>
      <p:sp>
        <p:nvSpPr>
          <p:cNvPr id="9" name="Text 7"/>
          <p:cNvSpPr/>
          <p:nvPr/>
        </p:nvSpPr>
        <p:spPr>
          <a:xfrm>
            <a:off x="844529" y="3251200"/>
            <a:ext cx="45845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05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Connect results with Economics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06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Compare insurers &amp; market environment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76838" y="3111500"/>
            <a:ext cx="5206870" cy="939800"/>
          </a:xfrm>
          <a:prstGeom prst="roundRect">
            <a:avLst>
              <a:gd name="adj" fmla="val 3649"/>
            </a:avLst>
          </a:prstGeom>
          <a:solidFill>
            <a:srgbClr val="EFE7DF"/>
          </a:solidFill>
          <a:ln/>
        </p:spPr>
      </p:sp>
      <p:sp>
        <p:nvSpPr>
          <p:cNvPr id="11" name="Text 9"/>
          <p:cNvSpPr/>
          <p:nvPr/>
        </p:nvSpPr>
        <p:spPr>
          <a:xfrm>
            <a:off x="6813380" y="3251200"/>
            <a:ext cx="45845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07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Identify findings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08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Prepare final report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987" y="4521200"/>
            <a:ext cx="11175720" cy="1168400"/>
          </a:xfrm>
          <a:prstGeom prst="roundRect">
            <a:avLst>
              <a:gd name="adj" fmla="val 2935"/>
            </a:avLst>
          </a:prstGeom>
          <a:solidFill>
            <a:srgbClr val="EFE7DF"/>
          </a:solidFill>
          <a:ln/>
        </p:spPr>
      </p:sp>
      <p:sp>
        <p:nvSpPr>
          <p:cNvPr id="13" name="Text 11"/>
          <p:cNvSpPr/>
          <p:nvPr/>
        </p:nvSpPr>
        <p:spPr>
          <a:xfrm>
            <a:off x="946126" y="4724400"/>
            <a:ext cx="1029944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Method principle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Keep evidence, economics and market context connected at every stage.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343" y="6337300"/>
            <a:ext cx="43051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HEALTH INSURANCE MARKET STUDY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36" y="459423"/>
            <a:ext cx="10680433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What will our analysis look like?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60343" y="1041400"/>
            <a:ext cx="938506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Planned analysis — not results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7987" y="1778000"/>
            <a:ext cx="3301917" cy="1524000"/>
          </a:xfrm>
          <a:prstGeom prst="roundRect">
            <a:avLst>
              <a:gd name="adj" fmla="val 2250"/>
            </a:avLst>
          </a:prstGeom>
          <a:solidFill>
            <a:srgbClr val="EFE7DF"/>
          </a:solidFill>
          <a:ln/>
        </p:spPr>
      </p:sp>
      <p:sp>
        <p:nvSpPr>
          <p:cNvPr id="5" name="Text 3"/>
          <p:cNvSpPr/>
          <p:nvPr/>
        </p:nvSpPr>
        <p:spPr>
          <a:xfrm>
            <a:off x="819130" y="1955800"/>
            <a:ext cx="26796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Analysis 1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Age vs coverage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Do older customers prefer higher coverage?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44889" y="1778000"/>
            <a:ext cx="3301917" cy="1524000"/>
          </a:xfrm>
          <a:prstGeom prst="roundRect">
            <a:avLst>
              <a:gd name="adj" fmla="val 2250"/>
            </a:avLst>
          </a:prstGeom>
          <a:solidFill>
            <a:srgbClr val="EFE7DF"/>
          </a:solidFill>
          <a:ln/>
        </p:spPr>
      </p:sp>
      <p:sp>
        <p:nvSpPr>
          <p:cNvPr id="7" name="Text 5"/>
          <p:cNvSpPr/>
          <p:nvPr/>
        </p:nvSpPr>
        <p:spPr>
          <a:xfrm>
            <a:off x="4756031" y="1955800"/>
            <a:ext cx="267963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Analysis 2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Premium vs choice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Does a higher premium reduce interest?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7797" y="1778000"/>
            <a:ext cx="3301917" cy="1524000"/>
          </a:xfrm>
          <a:prstGeom prst="roundRect">
            <a:avLst>
              <a:gd name="adj" fmla="val 2250"/>
            </a:avLst>
          </a:prstGeom>
          <a:solidFill>
            <a:srgbClr val="EFE7DF"/>
          </a:solidFill>
          <a:ln/>
        </p:spPr>
      </p:sp>
      <p:sp>
        <p:nvSpPr>
          <p:cNvPr id="9" name="Text 7"/>
          <p:cNvSpPr/>
          <p:nvPr/>
        </p:nvSpPr>
        <p:spPr>
          <a:xfrm>
            <a:off x="8438939" y="1955800"/>
            <a:ext cx="2679633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Analysis 3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Risk vs premium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How does risk relate to pricing?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7987" y="3708400"/>
            <a:ext cx="5206870" cy="1524000"/>
          </a:xfrm>
          <a:prstGeom prst="roundRect">
            <a:avLst>
              <a:gd name="adj" fmla="val 2250"/>
            </a:avLst>
          </a:prstGeom>
          <a:solidFill>
            <a:srgbClr val="EFE7DF"/>
          </a:solidFill>
          <a:ln/>
        </p:spPr>
      </p:sp>
      <p:sp>
        <p:nvSpPr>
          <p:cNvPr id="11" name="Text 9"/>
          <p:cNvSpPr/>
          <p:nvPr/>
        </p:nvSpPr>
        <p:spPr>
          <a:xfrm>
            <a:off x="819130" y="3886200"/>
            <a:ext cx="44575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Analysis 4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Insurer comparison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How are different insurers positioning their plans?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76838" y="3708400"/>
            <a:ext cx="5206870" cy="1524000"/>
          </a:xfrm>
          <a:prstGeom prst="roundRect">
            <a:avLst>
              <a:gd name="adj" fmla="val 2250"/>
            </a:avLst>
          </a:prstGeom>
          <a:solidFill>
            <a:srgbClr val="EFE7DF"/>
          </a:solidFill>
          <a:ln/>
        </p:spPr>
      </p:sp>
      <p:sp>
        <p:nvSpPr>
          <p:cNvPr id="13" name="Text 11"/>
          <p:cNvSpPr/>
          <p:nvPr/>
        </p:nvSpPr>
        <p:spPr>
          <a:xfrm>
            <a:off x="6787980" y="3886200"/>
            <a:ext cx="44575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Analysis 5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Consumer behaviour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What factors influence plan selection?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343" y="6337300"/>
            <a:ext cx="43051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PLANNED ANALYSIS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36" y="459423"/>
            <a:ext cx="10680433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What We Expect to Investigate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60343" y="1041400"/>
            <a:ext cx="1014704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Working hypotheses for the study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7987" y="1841500"/>
            <a:ext cx="5460863" cy="3683000"/>
          </a:xfrm>
          <a:prstGeom prst="roundRect">
            <a:avLst>
              <a:gd name="adj" fmla="val 931"/>
            </a:avLst>
          </a:prstGeom>
          <a:solidFill>
            <a:srgbClr val="EFE7DF"/>
          </a:solidFill>
          <a:ln/>
        </p:spPr>
      </p:sp>
      <p:sp>
        <p:nvSpPr>
          <p:cNvPr id="5" name="Text 3"/>
          <p:cNvSpPr/>
          <p:nvPr/>
        </p:nvSpPr>
        <p:spPr>
          <a:xfrm>
            <a:off x="577836" y="2095500"/>
            <a:ext cx="532116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We expect to examine whether: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2628" y="2625725"/>
            <a:ext cx="4711582" cy="267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Higher-risk customers prefer greater coverage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Premium increases affect plan selection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Age influences insurance preferences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Customers focus on benefits, not only price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Insurers use different pricing strategies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22844" y="1841500"/>
            <a:ext cx="5460863" cy="3683000"/>
          </a:xfrm>
          <a:prstGeom prst="roundRect">
            <a:avLst>
              <a:gd name="adj" fmla="val 931"/>
            </a:avLst>
          </a:prstGeom>
          <a:solidFill>
            <a:srgbClr val="EFE7DF"/>
          </a:solidFill>
          <a:ln/>
        </p:spPr>
      </p:sp>
      <p:sp>
        <p:nvSpPr>
          <p:cNvPr id="8" name="Text 6"/>
          <p:cNvSpPr/>
          <p:nvPr/>
        </p:nvSpPr>
        <p:spPr>
          <a:xfrm>
            <a:off x="6597485" y="2095500"/>
            <a:ext cx="4711582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Risk pooling helps manage uncertainty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Adverse selection may challenge insurers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Coverage and pricing may vary by market position</a:t>
            </a:r>
            <a:endParaRPr lang="en-US" sz="1800" dirty="0"/>
          </a:p>
          <a:p>
            <a:pPr algn="l" marL="365760" indent="-365760">
              <a:lnSpc>
                <a:spcPct val="125000"/>
              </a:lnSpc>
              <a:buSzPct val="100000"/>
              <a:buChar char="•"/>
            </a:pPr>
            <a:r>
              <a:rPr lang="en-US" sz="18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Consumer preferences may shape competition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7987" y="5905500"/>
            <a:ext cx="11175720" cy="914400"/>
          </a:xfrm>
          <a:prstGeom prst="roundRect">
            <a:avLst>
              <a:gd name="adj" fmla="val 3750"/>
            </a:avLst>
          </a:prstGeom>
          <a:solidFill>
            <a:srgbClr val="A62C2B"/>
          </a:solidFill>
          <a:ln/>
        </p:spPr>
      </p:sp>
      <p:sp>
        <p:nvSpPr>
          <p:cNvPr id="10" name="Text 8"/>
          <p:cNvSpPr/>
          <p:nvPr/>
        </p:nvSpPr>
        <p:spPr>
          <a:xfrm>
            <a:off x="641334" y="6096000"/>
            <a:ext cx="1090902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These are hypotheses to be tested — not final conclusions.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0343" y="6502400"/>
            <a:ext cx="354321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EVIDENCE BEFORE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36" y="459423"/>
            <a:ext cx="10680433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Illustrative: preferred coverage by age group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60343" y="1041400"/>
            <a:ext cx="9385065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Example only — this is not project data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04952" y="2159000"/>
            <a:ext cx="8127797" cy="3175000"/>
          </a:xfrm>
          <a:prstGeom prst="roundRect">
            <a:avLst>
              <a:gd name="adj" fmla="val 1080"/>
            </a:avLst>
          </a:prstGeom>
          <a:solidFill>
            <a:srgbClr val="C9BEB1"/>
          </a:solidFill>
          <a:ln/>
        </p:spPr>
      </p:sp>
      <p:sp>
        <p:nvSpPr>
          <p:cNvPr id="5" name="Shape 3"/>
          <p:cNvSpPr/>
          <p:nvPr/>
        </p:nvSpPr>
        <p:spPr>
          <a:xfrm>
            <a:off x="2666933" y="4724400"/>
            <a:ext cx="914377" cy="609600"/>
          </a:xfrm>
          <a:prstGeom prst="roundRect">
            <a:avLst>
              <a:gd name="adj" fmla="val 5625"/>
            </a:avLst>
          </a:prstGeom>
          <a:solidFill>
            <a:srgbClr val="A62C2B"/>
          </a:solidFill>
          <a:ln/>
        </p:spPr>
      </p:sp>
      <p:sp>
        <p:nvSpPr>
          <p:cNvPr id="6" name="Shape 4"/>
          <p:cNvSpPr/>
          <p:nvPr/>
        </p:nvSpPr>
        <p:spPr>
          <a:xfrm>
            <a:off x="4444889" y="4241800"/>
            <a:ext cx="914377" cy="1092200"/>
          </a:xfrm>
          <a:prstGeom prst="roundRect">
            <a:avLst>
              <a:gd name="adj" fmla="val 3750"/>
            </a:avLst>
          </a:prstGeom>
          <a:solidFill>
            <a:srgbClr val="A62C2B"/>
          </a:solidFill>
          <a:ln/>
        </p:spPr>
      </p:sp>
      <p:sp>
        <p:nvSpPr>
          <p:cNvPr id="7" name="Shape 5"/>
          <p:cNvSpPr/>
          <p:nvPr/>
        </p:nvSpPr>
        <p:spPr>
          <a:xfrm>
            <a:off x="6222844" y="3759200"/>
            <a:ext cx="914377" cy="1574800"/>
          </a:xfrm>
          <a:prstGeom prst="roundRect">
            <a:avLst>
              <a:gd name="adj" fmla="val 3750"/>
            </a:avLst>
          </a:prstGeom>
          <a:solidFill>
            <a:srgbClr val="A62C2B"/>
          </a:solidFill>
          <a:ln/>
        </p:spPr>
      </p:sp>
      <p:sp>
        <p:nvSpPr>
          <p:cNvPr id="8" name="Shape 6"/>
          <p:cNvSpPr/>
          <p:nvPr/>
        </p:nvSpPr>
        <p:spPr>
          <a:xfrm>
            <a:off x="8000800" y="3225800"/>
            <a:ext cx="914377" cy="2108200"/>
          </a:xfrm>
          <a:prstGeom prst="roundRect">
            <a:avLst>
              <a:gd name="adj" fmla="val 3750"/>
            </a:avLst>
          </a:prstGeom>
          <a:solidFill>
            <a:srgbClr val="A62C2B"/>
          </a:solidFill>
          <a:ln/>
        </p:spPr>
      </p:sp>
      <p:sp>
        <p:nvSpPr>
          <p:cNvPr id="9" name="Text 7"/>
          <p:cNvSpPr/>
          <p:nvPr/>
        </p:nvSpPr>
        <p:spPr>
          <a:xfrm>
            <a:off x="2304992" y="5461000"/>
            <a:ext cx="16382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18–25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70248" y="5461000"/>
            <a:ext cx="16382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26–35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48204" y="5461000"/>
            <a:ext cx="16382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36–50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6159" y="5461000"/>
            <a:ext cx="16382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51+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454913" y="3238500"/>
            <a:ext cx="242563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Illustrative pattern only.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Actual values will be calculated from collected survey data.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343" y="6337300"/>
            <a:ext cx="45591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62C2B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EXAMPLE GRAPH — NOT A FINDING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36" y="459423"/>
            <a:ext cx="10045449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One Project — Three Subjects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60343" y="1041400"/>
            <a:ext cx="1065503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Each subject answers a different part of the same question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7987" y="1778000"/>
            <a:ext cx="11175720" cy="889000"/>
          </a:xfrm>
          <a:prstGeom prst="roundRect">
            <a:avLst>
              <a:gd name="adj" fmla="val 3857"/>
            </a:avLst>
          </a:prstGeom>
          <a:solidFill>
            <a:srgbClr val="EFE7DF"/>
          </a:solidFill>
          <a:ln/>
        </p:spPr>
      </p:sp>
      <p:sp>
        <p:nvSpPr>
          <p:cNvPr id="5" name="Text 3"/>
          <p:cNvSpPr/>
          <p:nvPr/>
        </p:nvSpPr>
        <p:spPr>
          <a:xfrm>
            <a:off x="946126" y="1943100"/>
            <a:ext cx="1029944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Consumer chooses insurance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The observed decision at the centre of the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94210" y="2743200"/>
            <a:ext cx="10032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↓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7987" y="3175000"/>
            <a:ext cx="3301917" cy="812800"/>
          </a:xfrm>
          <a:prstGeom prst="roundRect">
            <a:avLst>
              <a:gd name="adj" fmla="val 4219"/>
            </a:avLst>
          </a:prstGeom>
          <a:solidFill>
            <a:srgbClr val="A62C2B"/>
          </a:solidFill>
          <a:ln/>
        </p:spPr>
      </p:sp>
      <p:sp>
        <p:nvSpPr>
          <p:cNvPr id="8" name="Shape 6"/>
          <p:cNvSpPr/>
          <p:nvPr/>
        </p:nvSpPr>
        <p:spPr>
          <a:xfrm>
            <a:off x="507987" y="3175000"/>
            <a:ext cx="3301917" cy="609600"/>
          </a:xfrm>
          <a:prstGeom prst="roundRect">
            <a:avLst>
              <a:gd name="adj" fmla="val 5625"/>
            </a:avLst>
          </a:prstGeom>
          <a:solidFill>
            <a:srgbClr val="A62C2B"/>
          </a:solidFill>
          <a:ln/>
        </p:spPr>
      </p:sp>
      <p:sp>
        <p:nvSpPr>
          <p:cNvPr id="9" name="Text 7"/>
          <p:cNvSpPr/>
          <p:nvPr/>
        </p:nvSpPr>
        <p:spPr>
          <a:xfrm>
            <a:off x="565136" y="3175000"/>
            <a:ext cx="31876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ECONOMICS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Price + Risk + Preferences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4889" y="3175000"/>
            <a:ext cx="3301917" cy="812800"/>
          </a:xfrm>
          <a:prstGeom prst="roundRect">
            <a:avLst>
              <a:gd name="adj" fmla="val 4219"/>
            </a:avLst>
          </a:prstGeom>
          <a:solidFill>
            <a:srgbClr val="C9BEB1"/>
          </a:solidFill>
          <a:ln/>
        </p:spPr>
      </p:sp>
      <p:sp>
        <p:nvSpPr>
          <p:cNvPr id="11" name="Text 9"/>
          <p:cNvSpPr/>
          <p:nvPr/>
        </p:nvSpPr>
        <p:spPr>
          <a:xfrm>
            <a:off x="4819529" y="3276600"/>
            <a:ext cx="26796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BUSINESS ENVIRONMENT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Competition + Regulation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81790" y="3175000"/>
            <a:ext cx="3301917" cy="812800"/>
          </a:xfrm>
          <a:prstGeom prst="roundRect">
            <a:avLst>
              <a:gd name="adj" fmla="val 4219"/>
            </a:avLst>
          </a:prstGeom>
          <a:solidFill>
            <a:srgbClr val="EFE7DF"/>
          </a:solidFill>
          <a:ln/>
        </p:spPr>
      </p:sp>
      <p:sp>
        <p:nvSpPr>
          <p:cNvPr id="13" name="Text 11"/>
          <p:cNvSpPr/>
          <p:nvPr/>
        </p:nvSpPr>
        <p:spPr>
          <a:xfrm>
            <a:off x="8756431" y="3276600"/>
            <a:ext cx="267963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PYTHON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Data → Analysis → Graphs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94210" y="4241800"/>
            <a:ext cx="10032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2A242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↓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7987" y="4699000"/>
            <a:ext cx="11175720" cy="990600"/>
          </a:xfrm>
          <a:prstGeom prst="roundRect">
            <a:avLst>
              <a:gd name="adj" fmla="val 3461"/>
            </a:avLst>
          </a:prstGeom>
          <a:solidFill>
            <a:srgbClr val="2A2421"/>
          </a:solidFill>
          <a:ln/>
        </p:spPr>
      </p:sp>
      <p:sp>
        <p:nvSpPr>
          <p:cNvPr id="16" name="Shape 14"/>
          <p:cNvSpPr/>
          <p:nvPr/>
        </p:nvSpPr>
        <p:spPr>
          <a:xfrm>
            <a:off x="507987" y="4699000"/>
            <a:ext cx="11175720" cy="609600"/>
          </a:xfrm>
          <a:prstGeom prst="roundRect">
            <a:avLst>
              <a:gd name="adj" fmla="val 5625"/>
            </a:avLst>
          </a:prstGeom>
          <a:solidFill>
            <a:srgbClr val="2A2421"/>
          </a:solidFill>
          <a:ln/>
        </p:spPr>
      </p:sp>
      <p:sp>
        <p:nvSpPr>
          <p:cNvPr id="17" name="Text 15"/>
          <p:cNvSpPr/>
          <p:nvPr/>
        </p:nvSpPr>
        <p:spPr>
          <a:xfrm>
            <a:off x="565136" y="4699000"/>
            <a:ext cx="1106142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FINAL FINDING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How can adverse selection affect the health insurance market?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343" y="6337300"/>
            <a:ext cx="37972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A CONNECTED RESEARCH DESIGN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5136" y="459423"/>
            <a:ext cx="9537461" cy="51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A2421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Our Next Steps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260343" y="1041400"/>
            <a:ext cx="1014704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Work plan from design to final presentation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7987" y="1841500"/>
            <a:ext cx="11175720" cy="431800"/>
          </a:xfrm>
          <a:prstGeom prst="roundRect">
            <a:avLst>
              <a:gd name="adj" fmla="val 7941"/>
            </a:avLst>
          </a:prstGeom>
          <a:solidFill>
            <a:srgbClr val="A62C2B"/>
          </a:solidFill>
          <a:ln/>
        </p:spPr>
      </p:sp>
      <p:sp>
        <p:nvSpPr>
          <p:cNvPr id="5" name="Shape 3"/>
          <p:cNvSpPr/>
          <p:nvPr/>
        </p:nvSpPr>
        <p:spPr>
          <a:xfrm>
            <a:off x="787380" y="1930400"/>
            <a:ext cx="888978" cy="247650"/>
          </a:xfrm>
          <a:prstGeom prst="roundRect">
            <a:avLst>
              <a:gd name="adj" fmla="val 13846"/>
            </a:avLst>
          </a:prstGeom>
          <a:solidFill>
            <a:srgbClr val="A62C2B"/>
          </a:solidFill>
          <a:ln/>
        </p:spPr>
      </p:sp>
      <p:sp>
        <p:nvSpPr>
          <p:cNvPr id="6" name="Text 4"/>
          <p:cNvSpPr/>
          <p:nvPr/>
        </p:nvSpPr>
        <p:spPr>
          <a:xfrm>
            <a:off x="539736" y="1930400"/>
            <a:ext cx="138426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Stage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04952" y="1930400"/>
            <a:ext cx="8889778" cy="247650"/>
          </a:xfrm>
          <a:prstGeom prst="roundRect">
            <a:avLst>
              <a:gd name="adj" fmla="val 13846"/>
            </a:avLst>
          </a:prstGeom>
          <a:solidFill>
            <a:srgbClr val="A62C2B"/>
          </a:solidFill>
          <a:ln/>
        </p:spPr>
      </p:sp>
      <p:sp>
        <p:nvSpPr>
          <p:cNvPr id="8" name="Text 6"/>
          <p:cNvSpPr/>
          <p:nvPr/>
        </p:nvSpPr>
        <p:spPr>
          <a:xfrm>
            <a:off x="1657309" y="1930400"/>
            <a:ext cx="938506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5136" y="2273300"/>
            <a:ext cx="11061423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1    Finalise research questions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2    Design consumer survey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3    Collect primary data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4    Collect insurer / market data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5    Clean and organise data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6    Analyse using Python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7    Compare results with Economics concepts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8    Study competitive environment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9    Identify findings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10  Prepare final report &amp; presentation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7987" y="5778500"/>
            <a:ext cx="11175720" cy="635000"/>
          </a:xfrm>
          <a:prstGeom prst="roundRect">
            <a:avLst>
              <a:gd name="adj" fmla="val 5400"/>
            </a:avLst>
          </a:prstGeom>
          <a:solidFill>
            <a:srgbClr val="EFE7DF"/>
          </a:solidFill>
          <a:ln/>
        </p:spPr>
      </p:sp>
      <p:sp>
        <p:nvSpPr>
          <p:cNvPr id="11" name="Text 9"/>
          <p:cNvSpPr/>
          <p:nvPr/>
        </p:nvSpPr>
        <p:spPr>
          <a:xfrm>
            <a:off x="577836" y="5943600"/>
            <a:ext cx="1090902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A62C2B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Sequence matters:</a:t>
            </a:r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42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 evidence first, interpretation second.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343" y="6502400"/>
            <a:ext cx="37972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4F48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SEQUENCED FOR FACULTY REVIEW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334" y="685800"/>
            <a:ext cx="430519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9BEB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OUR CORE RESEARCH QUESTION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88978" y="1168400"/>
            <a:ext cx="1396965" cy="63500"/>
          </a:xfrm>
          <a:prstGeom prst="roundRect">
            <a:avLst>
              <a:gd name="adj" fmla="val 49999"/>
            </a:avLst>
          </a:prstGeom>
          <a:solidFill>
            <a:srgbClr val="A62C2B"/>
          </a:solidFill>
          <a:ln/>
        </p:spPr>
      </p:sp>
      <p:sp>
        <p:nvSpPr>
          <p:cNvPr id="4" name="Text 2"/>
          <p:cNvSpPr/>
          <p:nvPr/>
        </p:nvSpPr>
        <p:spPr>
          <a:xfrm>
            <a:off x="946126" y="1635443"/>
            <a:ext cx="10299442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Ubuntu Bold" pitchFamily="34" charset="0"/>
                <a:ea typeface="Ubuntu Bold" pitchFamily="34" charset="-122"/>
                <a:cs typeface="Ubuntu Bold" pitchFamily="34" charset="-120"/>
              </a:rPr>
              <a:t>How do differences in age, risk and price sensitivity influence health-insurance plan selection, and how can this contribute to adverse selection in the insurance market?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1334" y="3708400"/>
            <a:ext cx="430519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C9BEB1"/>
                </a:solidFill>
                <a:latin typeface="Istok Web Bold" pitchFamily="34" charset="0"/>
                <a:ea typeface="Istok Web Bold" pitchFamily="34" charset="-122"/>
                <a:cs typeface="Istok Web Bold" pitchFamily="34" charset="-120"/>
              </a:rPr>
              <a:t>SUPPORTING QUESTIONS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6126" y="4165600"/>
            <a:ext cx="471158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1. Does age influence plan choice?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2. Does premium influence customer decisions?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3. Do higher-risk customers prefer greater coverage?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79993" y="4165600"/>
            <a:ext cx="483857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4. How do insurers manage different risks?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5. How do insurers compete?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6. What role do adverse selection and moral hazard play?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1334" y="6337300"/>
            <a:ext cx="455918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BEB1"/>
                </a:solidFill>
                <a:latin typeface="Istok Web" pitchFamily="34" charset="0"/>
                <a:ea typeface="Istok Web" pitchFamily="34" charset="-122"/>
                <a:cs typeface="Istok Web" pitchFamily="34" charset="-120"/>
              </a:rPr>
              <a:t>HEALTH INSURANCE MARKET STUDY · DRAFT REVIEW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2026-10-07T19:15:44Z</dcterms:created>
  <dcterms:modified xsi:type="dcterms:W3CDTF">2026-10-07T19:15:44Z</dcterms:modified>
</cp:coreProperties>
</file>